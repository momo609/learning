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f6095e60c64d91" /><Relationship Type="http://schemas.openxmlformats.org/officeDocument/2006/relationships/extended-properties" Target="/docProps/app.xml" Id="R4dd5f04a78134a9b" /><Relationship Type="http://schemas.openxmlformats.org/officeDocument/2006/relationships/officeDocument" Target="/ppt/presentation.xml" Id="R4b8bf207311940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46058a91f141c7"/>
  </p:sldMasterIdLst>
  <p:notesMasterIdLst>
    <p:notesMasterId xmlns:r="http://schemas.openxmlformats.org/officeDocument/2006/relationships" r:id="Rb01a7bb559e94ff3"/>
  </p:notesMasterIdLst>
  <p:sldIdLst>
    <p:sldId xmlns:r="http://schemas.openxmlformats.org/officeDocument/2006/relationships" id="256" r:id="R0ebd18b1fcf54b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4682f0b0154946" /><Relationship Type="http://schemas.openxmlformats.org/officeDocument/2006/relationships/slideMaster" Target="/ppt/slideMasters/slideMaster1.xml" Id="Rd646058a91f141c7" /><Relationship Type="http://schemas.openxmlformats.org/officeDocument/2006/relationships/notesMaster" Target="/ppt/notesMasters/notesMaster1.xml" Id="Rb01a7bb559e94ff3" /><Relationship Type="http://schemas.openxmlformats.org/officeDocument/2006/relationships/presProps" Target="/ppt/presProps.xml" Id="R841e6609a32a4cf2" /><Relationship Type="http://schemas.openxmlformats.org/officeDocument/2006/relationships/tableStyles" Target="/ppt/tableStyles.xml" Id="R2ec76e7e8cdb4e76" /><Relationship Type="http://schemas.openxmlformats.org/officeDocument/2006/relationships/slide" Target="/ppt/slides/slide1.xml" Id="R0ebd18b1fcf54b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654b3d787a4e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704e58fb0847e8" /><Relationship Type="http://schemas.openxmlformats.org/officeDocument/2006/relationships/notesMaster" Target="/ppt/notesMasters/notesMaster1.xml" Id="R03143a5d3ae142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本页事实来源（均为当前仓库内文件）：</a:t>
            </a:r>
          </a:p>
          <a:p xmlns:a="http://schemas.openxmlformats.org/drawingml/2006/main">
            <a:r>
              <a:t>1. 架构与定位：README.md；docs/ARCHITECTURE.md；AGENTS.md。</a:t>
            </a:r>
          </a:p>
          <a:p xmlns:a="http://schemas.openxmlformats.org/drawingml/2006/main">
            <a:r>
              <a:t>2. 生态规模：catalog/graph.json，登记 13 个社区仓、7 个插件、61 个技能节点、9 个任务维度。</a:t>
            </a:r>
          </a:p>
          <a:p xmlns:a="http://schemas.openxmlformats.org/drawingml/2006/main">
            <a:r>
              <a:t>3. Spirit-v1.5 案例：skills/vla-model-skills/vla-model-adaptation-optimization/references/ref-models.md。原始数据为 49.7 到 72.2 samples/s；提升比例按 (72.2-49.7)/49.7 计算，约 45.3%，页内取整为 +45%。</a:t>
            </a:r>
          </a:p>
          <a:p xmlns:a="http://schemas.openxmlformats.org/drawingml/2006/main">
            <a:r>
              <a:t>4. Qwen3.5-35B-A3B 案例：plugins/inference-model-optimize/knowledge/models/Qwen3.5-35B-A3B-950DT-4Kx32K.md。记录并发 512 到 640，吞吐提升 5.4%。</a:t>
            </a:r>
          </a:p>
          <a:p xmlns:a="http://schemas.openxmlformats.org/drawingml/2006/main">
            <a:r>
              <a:t>5. 三平台为 Claude Code、Codex、DSH，来源 README.md 与 docs/ARCHITECTURE.md。</a:t>
            </a:r>
          </a:p>
          <a:p xmlns:a="http://schemas.openxmlformats.org/drawingml/2006/main">
            <a:r>
              <a:t>6. 能力清单来源：catalog/task-kinds.yaml；skills/llm-skills/model_migration/；skills/inference-model-skills/；skills/ops-skills/；skills/ecosystem-code-repository-npu-migration/；skills/doc-skills/。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4639e94f584d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e0c113e60042f3" /><Relationship Type="http://schemas.openxmlformats.org/officeDocument/2006/relationships/slideLayout" Target="/ppt/slideLayouts/slideLayout1.xml" Id="R648edd77e0d247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48edd77e0d247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0dad8ba294838" /><Relationship Type="http://schemas.openxmlformats.org/officeDocument/2006/relationships/notesSlide" Target="/ppt/notesSlides/notesSlide1.xml" Id="R2d116c4e1e5e4c2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CC5B3A4-C194-4129-94F4-794D4D3F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"/>
            <a:ext cx="495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30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330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MindSpeed-Agent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3385E1-A9EE-4326-8158-41C8F366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面向昇腾 NPU 的智能体工程平台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CB30CC-DAD7-4BC8-8DB7-DE32A6CD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13716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D6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759F6-B789-4178-9777-2BE578B3B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52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F2080-9433-4B86-A5BA-E1930589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953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社区代码仓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FA9C2-733C-474C-B568-4EE2E01A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089F80-D9BC-490D-A4C1-24CA93FD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6156A2-70AC-47CC-B23D-9718F4F6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953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插件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D966D-F724-447A-98AB-DE29501A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957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6CE955-0DA1-46D8-ABB9-2D05926F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952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FF9D3D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FF9D3D"/>
                </a:solidFill>
                <a:latin typeface="Noto Sans SC"/>
                <a:ea typeface="Noto Sans SC"/>
                <a:cs typeface="Noto Sans SC"/>
              </a:rPr>
              <a:t>61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2AD91-4771-4381-9415-E263396D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953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技能节点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F8E5F-748F-4F48-AB60-22EE71F1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409575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C774DB-3ACA-4C2C-BD3C-D808BC6C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95275"/>
            <a:ext cx="876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32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232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E05691-2ED9-490E-9EF3-36D0A49A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9532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开发平台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B23692-4F58-4E30-B74F-04BFF66E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457325"/>
            <a:ext cx="0" cy="460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54D21-23E7-4A2E-AFC6-C542ECAB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57325"/>
            <a:ext cx="0" cy="4600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26A06-AB24-4CDD-B660-D1E98D3E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382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007AE0-DEE0-406E-80D6-F79177A1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3906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架构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85D48-2810-4C96-90CC-462529ADE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526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D6D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32642-DEEC-4B74-A69D-AA3E10A25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4382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A985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985F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D646AD-7EA6-49B6-ABFC-C9117FBA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390650"/>
            <a:ext cx="328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能力清单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65A059-B67A-4B86-B3F3-BD2142A6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752600"/>
            <a:ext cx="3743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85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1272E0-5419-4C6E-8E19-D356D96F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38275"/>
            <a:ext cx="4000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F9D3D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F9D3D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25E01D-3553-4FF9-BB22-56A7694C6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390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8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实践案例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3996A8-CCA4-4CF1-8D21-B570A670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52600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9D3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F4CB3D-7482-4E0C-925F-E257A74F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1432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9525">
            <a:solidFill>
              <a:srgbClr val="36D6D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9E0E2C-70C0-4CA7-BD52-E8F09D84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478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自然语言诉求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0A2C6D-9BC1-43D7-8B24-847B2525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3105150" cy="571500"/>
          </a:xfrm>
          <a:prstGeom xmlns:a="http://schemas.openxmlformats.org/drawingml/2006/main" prst="roundRect">
            <a:avLst>
              <a:gd name="adj" fmla="val 21667"/>
            </a:avLst>
          </a:prstGeom>
          <a:solidFill xmlns:a="http://schemas.openxmlformats.org/drawingml/2006/main">
            <a:srgbClr val="10263F"/>
          </a:solidFill>
          <a:ln xmlns:a="http://schemas.openxmlformats.org/drawingml/2006/main" w="9525">
            <a:solidFill>
              <a:srgbClr val="36D6D1"/>
            </a:solidFill>
            <a:prstDash val="solid"/>
          </a:ln>
        </p:spPr>
      </p:sp>
      <p:cxnSp>
        <p:nvCxnSpPr>
          <p:cNvPr id="114" name=""/>
          <p:cNvCxnSpPr>
            <a:stCxn xmlns:a="http://schemas.openxmlformats.org/drawingml/2006/main" id="26" idx="2"/>
            <a:endCxn xmlns:a="http://schemas.openxmlformats.org/drawingml/2006/main" id="28" idx="0"/>
          </p:cNvCxnSpPr>
          <p:nvPr/>
        </p:nvCxnSpPr>
        <p:spPr>
          <a:xfrm xmlns:a="http://schemas.openxmlformats.org/drawingml/2006/main">
            <a:off x="2181225" y="23622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6D6D1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06F613-71D1-45F5-A005-0ACED715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81300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F6E420-54B8-4712-95AF-92E2D356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4150"/>
            <a:ext cx="2495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Catalog 路由底座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A6FE41-2292-4578-A331-0BF58172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71800"/>
            <a:ext cx="24955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仓库别名消歧、任务分类、插件匹配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F025C9-EEAE-4424-8215-E6A813601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43275"/>
            <a:ext cx="2800350" cy="600075"/>
          </a:xfrm>
          <a:prstGeom xmlns:a="http://schemas.openxmlformats.org/drawingml/2006/main" prst="roundRect">
            <a:avLst>
              <a:gd name="adj" fmla="val 20635"/>
            </a:avLst>
          </a:prstGeom>
          <a:solidFill xmlns:a="http://schemas.openxmlformats.org/drawingml/2006/main">
            <a:srgbClr val="0E2035"/>
          </a:solidFill>
          <a:ln xmlns:a="http://schemas.openxmlformats.org/drawingml/2006/main" w="9525">
            <a:solidFill>
              <a:srgbClr val="4D8DFF"/>
            </a:solidFill>
            <a:prstDash val="solid"/>
          </a:ln>
        </p:spPr>
      </p:sp>
      <p:cxnSp>
        <p:nvCxnSpPr>
          <p:cNvPr id="119" name=""/>
          <p:cNvCxnSpPr>
            <a:stCxn xmlns:a="http://schemas.openxmlformats.org/drawingml/2006/main" id="28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2181225" y="32194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D8DFF"/>
            </a:solidFill>
            <a:prstDash val="soli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73FF14-C149-4E51-9C5D-BE233030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4D8D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D8DF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E0663E-0F30-4F7A-B949-8C84494B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219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Plugin 编排层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CD941A-C93C-45D0-8BB9-903245C2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67125"/>
            <a:ext cx="21907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按需安装，状态机组织执行链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E0D43B-A018-4284-85BB-7799E56F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67175"/>
            <a:ext cx="2495550" cy="600075"/>
          </a:xfrm>
          <a:prstGeom xmlns:a="http://schemas.openxmlformats.org/drawingml/2006/main" prst="roundRect">
            <a:avLst>
              <a:gd name="adj" fmla="val 20635"/>
            </a:avLst>
          </a:prstGeom>
          <a:solidFill xmlns:a="http://schemas.openxmlformats.org/drawingml/2006/main">
            <a:srgbClr val="0E2035"/>
          </a:solidFill>
          <a:ln xmlns:a="http://schemas.openxmlformats.org/drawingml/2006/main" w="9525">
            <a:solidFill>
              <a:srgbClr val="A985FF"/>
            </a:solidFill>
            <a:prstDash val="solid"/>
          </a:ln>
        </p:spPr>
      </p:sp>
      <p:cxnSp>
        <p:nvCxnSpPr>
          <p:cNvPr id="124" name=""/>
          <p:cNvCxnSpPr>
            <a:stCxn xmlns:a="http://schemas.openxmlformats.org/drawingml/2006/main" id="33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2181225" y="39433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985FF"/>
            </a:solidFill>
            <a:prstDash val="soli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0D31FE-68B2-4150-A0CB-6C747D80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200525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A985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985F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0C3E61-020C-433C-8D43-4CD08117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43375"/>
            <a:ext cx="1885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Agent 执行层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5863FA-E9E9-48CF-934E-8742EAC2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91025"/>
            <a:ext cx="18859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设计、开发、测试、评审角色协作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7796DB-1D82-40BD-A7C7-B4B1D935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91075"/>
            <a:ext cx="2190750" cy="600075"/>
          </a:xfrm>
          <a:prstGeom xmlns:a="http://schemas.openxmlformats.org/drawingml/2006/main" prst="roundRect">
            <a:avLst>
              <a:gd name="adj" fmla="val 20635"/>
            </a:avLst>
          </a:prstGeom>
          <a:solidFill xmlns:a="http://schemas.openxmlformats.org/drawingml/2006/main">
            <a:srgbClr val="0E2035"/>
          </a:solidFill>
          <a:ln xmlns:a="http://schemas.openxmlformats.org/drawingml/2006/main" w="9525">
            <a:solidFill>
              <a:srgbClr val="FF9D3D"/>
            </a:solidFill>
            <a:prstDash val="solid"/>
          </a:ln>
        </p:spPr>
      </p:sp>
      <p:cxnSp>
        <p:nvCxnSpPr>
          <p:cNvPr id="129" name=""/>
          <p:cNvCxnSpPr>
            <a:stCxn xmlns:a="http://schemas.openxmlformats.org/drawingml/2006/main" id="38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2181225" y="466725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F9D3D"/>
            </a:solidFill>
            <a:prstDash val="solid"/>
          </a:ln>
        </p:spPr>
      </p:cxn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684575-F9AC-48AC-A7D8-53176958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924425"/>
            <a:ext cx="2952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9D3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9D3D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396B2D-6F09-4DEE-83B8-B1F54D61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8672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Skill 能力层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3A7ABE-DFB6-4E71-9732-4DDF68DC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14925"/>
            <a:ext cx="15811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知识、脚本、模板、门禁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AC147CA-0137-4F8D-A04A-3AFDC054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10225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75D99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1">
                <a:solidFill>
                  <a:srgbClr val="75D99F"/>
                </a:solidFill>
                <a:latin typeface="Noto Sans SC"/>
                <a:ea typeface="Noto Sans SC"/>
                <a:cs typeface="Noto Sans SC"/>
              </a:rPr>
              <a:t>交付：代码、报告、性能基线与验证证据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AACAA2-A097-42A9-B394-BF41D5F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33600"/>
            <a:ext cx="0" cy="3457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5405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8E6B987-04C4-42E0-BEF3-65764B772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3835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D1"/>
          </a:solidFill>
          <a:ln xmlns:a="http://schemas.openxmlformats.org/drawingml/2006/main" w="28575">
            <a:solidFill>
              <a:srgbClr val="07111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72BFB9-4EEE-43A6-95EA-FE5DE633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66925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19E2FA-25C4-4CE0-931A-3FA1943C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526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模型迁移与训练适配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36A26A6-C23C-4109-A5B9-9AC59B43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002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HF / 自定义模型接入 MCore、FSDP2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覆盖 checkpoint、模板、并行切分、远端训练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73C4F4-39BC-46AD-89C6-5238E997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670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8DFF"/>
          </a:solidFill>
          <a:ln xmlns:a="http://schemas.openxmlformats.org/drawingml/2006/main" w="28575">
            <a:solidFill>
              <a:srgbClr val="07111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FEAA33-3795-41AB-8AD1-8284AC41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95575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92A578-C523-42AF-A57B-9683FDA1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5812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4D8D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4D8DFF"/>
                </a:solidFill>
                <a:latin typeface="Noto Sans SC"/>
                <a:ea typeface="Noto Sans SC"/>
                <a:cs typeface="Noto Sans SC"/>
              </a:rPr>
              <a:t>精度对齐与训练验证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22A9AE5-5199-4004-841F-53F376EC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82892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全词表 logits cosine 与 loss 误差门禁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覆盖 packed、重计算、TP/SP/PP/EP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C38A562-C902-43E7-9D72-35ACE70E6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9565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5D99F"/>
          </a:solidFill>
          <a:ln xmlns:a="http://schemas.openxmlformats.org/drawingml/2006/main" w="28575">
            <a:solidFill>
              <a:srgbClr val="07111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8B5930A-3272-4DC2-A74C-F99CD1FFB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24225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BB0897C-D57F-4DA9-BF5E-EB72F387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099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75D99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75D99F"/>
                </a:solidFill>
                <a:latin typeface="Noto Sans SC"/>
                <a:ea typeface="Noto Sans SC"/>
                <a:cs typeface="Noto Sans SC"/>
              </a:rPr>
              <a:t>推理部署与性能寻优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610C54-E1ED-482C-9267-FF36151F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4575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vLLM Ascend 环境、服务、benchmark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搜索 TP/DP/EP、并发、DCP、KV offload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062F024-E1C9-4721-9473-0359E537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243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9D3D"/>
          </a:solidFill>
          <a:ln xmlns:a="http://schemas.openxmlformats.org/drawingml/2006/main" w="28575">
            <a:solidFill>
              <a:srgbClr val="07111F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BD58B60-2043-4C9C-A804-945938F7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52875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FC96C52-A9F3-43BF-98B4-9E3901C3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8385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FF9D3D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FF9D3D"/>
                </a:solidFill>
                <a:latin typeface="Noto Sans SC"/>
                <a:ea typeface="Noto Sans SC"/>
                <a:cs typeface="Noto Sans SC"/>
              </a:rPr>
              <a:t>Profiling 与故障定位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52EE336-3ABF-47FE-B564-318C9D90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08622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采集 torch profiler / msprof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定位慢卡、通信瓶颈与版本回归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719BD6E-3B60-4035-9B70-F543CDF7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5295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985FF"/>
          </a:solidFill>
          <a:ln xmlns:a="http://schemas.openxmlformats.org/drawingml/2006/main" w="28575">
            <a:solidFill>
              <a:srgbClr val="07111F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776D4A2-2A3C-4847-A318-41CAE4E32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81525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747DF7A-FC5E-4610-8086-FCEF95EE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6722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A985F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A985FF"/>
                </a:solidFill>
                <a:latin typeface="Noto Sans SC"/>
                <a:ea typeface="Noto Sans SC"/>
                <a:cs typeface="Noto Sans SC"/>
              </a:rPr>
              <a:t>算子开发与验证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BD77B7-CA39-475D-8671-168A0704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71487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Ascend C / Triton / TileLang 详设与实现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覆盖 tiling、显存、精度、时延、回归测试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92DB655-0CC5-4F34-80B9-07E7FBAD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816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6D6D1"/>
          </a:solidFill>
          <a:ln xmlns:a="http://schemas.openxmlformats.org/drawingml/2006/main" w="28575">
            <a:solidFill>
              <a:srgbClr val="07111F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7D0762-761E-486C-9AA6-3C503294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0175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1">
                <a:solidFill>
                  <a:srgbClr val="07111F"/>
                </a:solidFill>
                <a:latin typeface="Noto Sans SC"/>
                <a:ea typeface="Noto Sans SC"/>
                <a:cs typeface="Noto Sans SC"/>
              </a:rPr>
              <a:t>6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B9BB38-0934-46E3-B5CA-88034572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0958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仓库迁移与资料治理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A73FB60-E5F3-4AE8-AA55-57AF75A9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343525"/>
            <a:ext cx="3238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GPU / PyTorch 仓库扫描、适配、修复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13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输出 PR，并执行文档四维质量审查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7E3FB0E-9971-488F-805D-F10E974D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952625"/>
            <a:ext cx="14668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FF9D3D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FF9D3D"/>
                </a:solidFill>
                <a:latin typeface="Noto Sans SC"/>
                <a:ea typeface="Noto Sans SC"/>
                <a:cs typeface="Noto Sans SC"/>
              </a:rPr>
              <a:t>+45%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D49D2B5-C6D1-4CDA-BB1A-CCC16B50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00250"/>
            <a:ext cx="1752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Spirit-v1.5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42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训练吞吐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2A8B8D5-0750-49F4-AFA7-7EC47CB0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667000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49.7 增至 72.2 samples/s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0C71C13-C784-4D8B-B0DB-7AC33E8D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019425"/>
            <a:ext cx="3209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8 卡，global batch 256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迁移、精度、性能三阶段均通过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9BD72A0-0777-4C73-82F3-DAA56345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24275"/>
            <a:ext cx="321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D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03031FC-5F41-4F8E-8177-128AC0EF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43350"/>
            <a:ext cx="1714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7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defRPr>
            </a:pPr>
            <a:r>
              <a:rPr sz="3675" b="1">
                <a:solidFill>
                  <a:srgbClr val="36D6D1"/>
                </a:solidFill>
                <a:latin typeface="Noto Sans SC"/>
                <a:ea typeface="Noto Sans SC"/>
                <a:cs typeface="Noto Sans SC"/>
              </a:rPr>
              <a:t>+5.4%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6C1781C-0E58-4F97-872C-A67141D86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971925"/>
            <a:ext cx="15049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Qwen3.5-35B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A3B 推理吞吐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BF68065-85B7-4A40-AEA5-B226501EC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4686300"/>
            <a:ext cx="32099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defRPr>
            </a:pPr>
            <a:r>
              <a:rPr sz="1500" b="1">
                <a:solidFill>
                  <a:srgbClr val="F6FAFF"/>
                </a:solidFill>
                <a:latin typeface="Noto Sans SC"/>
                <a:ea typeface="Noto Sans SC"/>
                <a:cs typeface="Noto Sans SC"/>
              </a:rPr>
              <a:t>并发 512 增至 640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E8A6671-89E5-47D5-AA3A-127F8D73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048250"/>
            <a:ext cx="32099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950DT，8 卡，4K×32K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TP4 DP2 EP8，DCP2 + KVOFF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910CF27-C1F0-4BD2-86D3-347984E56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484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5405D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8666C3A-B284-4923-8D5D-C4B60ABF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722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7B6C9"/>
                </a:solidFill>
                <a:latin typeface="Noto Sans SC"/>
                <a:ea typeface="Noto Sans SC"/>
                <a:cs typeface="Noto Sans SC"/>
              </a:defRPr>
            </a:pPr>
            <a:r>
              <a:rPr sz="1050" b="0">
                <a:solidFill>
                  <a:srgbClr val="A7B6C9"/>
                </a:solidFill>
                <a:latin typeface="Noto Sans SC"/>
                <a:ea typeface="Noto Sans SC"/>
                <a:cs typeface="Noto Sans SC"/>
              </a:rPr>
              <a:t>以真实代码、命令、日志和结构化产物作为交付证据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BFA5131-D175-4EA4-851E-3ED1D5D0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372225"/>
            <a:ext cx="2533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60738A"/>
                </a:solidFill>
                <a:latin typeface="Noto Sans SC"/>
                <a:ea typeface="Noto Sans SC"/>
                <a:cs typeface="Noto Sans SC"/>
              </a:defRPr>
            </a:pPr>
            <a:r>
              <a:rPr sz="975" b="0">
                <a:solidFill>
                  <a:srgbClr val="60738A"/>
                </a:solidFill>
                <a:latin typeface="Noto Sans SC"/>
                <a:ea typeface="Noto Sans SC"/>
                <a:cs typeface="Noto Sans SC"/>
              </a:rPr>
              <a:t>仓库数据快照：2026-09</a:t>
            </a:r>
          </a:p>
        </p:txBody>
      </p:sp>
    </p:spTree>
    <p:extLst>
      <p:ext uri="{BB962C8B-B14F-4D97-AF65-F5344CB8AC3E}">
        <p14:creationId xmlns:p14="http://schemas.microsoft.com/office/powerpoint/2010/main" val="18222721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2026-09-24T02:51:46.9110000Z</dcterms:created>
  <dcterms:modified xsi:type="dcterms:W3CDTF">2026-09-24T02:51:46.9110000Z</dcterms:modified>
</coreProperties>
</file>