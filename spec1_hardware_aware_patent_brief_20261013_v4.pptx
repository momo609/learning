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58338d41b3480e" /><Relationship Type="http://schemas.openxmlformats.org/officeDocument/2006/relationships/extended-properties" Target="/docProps/app.xml" Id="R940dce28b7624b3c" /><Relationship Type="http://schemas.openxmlformats.org/officeDocument/2006/relationships/officeDocument" Target="/ppt/presentation.xml" Id="R34461362420b49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b9f118381b4026"/>
  </p:sldMasterIdLst>
  <p:notesMasterIdLst>
    <p:notesMasterId xmlns:r="http://schemas.openxmlformats.org/officeDocument/2006/relationships" r:id="R039292c0e3d74767"/>
  </p:notesMasterIdLst>
  <p:sldIdLst>
    <p:sldId xmlns:r="http://schemas.openxmlformats.org/officeDocument/2006/relationships" id="256" r:id="Rbd406e49898c4613"/>
    <p:sldId xmlns:r="http://schemas.openxmlformats.org/officeDocument/2006/relationships" id="257" r:id="R4b83a701b70f4262"/>
    <p:sldId xmlns:r="http://schemas.openxmlformats.org/officeDocument/2006/relationships" id="258" r:id="R8ea7770c3d9d415a"/>
    <p:sldId xmlns:r="http://schemas.openxmlformats.org/officeDocument/2006/relationships" id="259" r:id="Rb19e7c5b28e54a1b"/>
    <p:sldId xmlns:r="http://schemas.openxmlformats.org/officeDocument/2006/relationships" id="260" r:id="R0faeeb995db842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456709c7884476" /><Relationship Type="http://schemas.openxmlformats.org/officeDocument/2006/relationships/slideMaster" Target="/ppt/slideMasters/slideMaster1.xml" Id="R6eb9f118381b4026" /><Relationship Type="http://schemas.openxmlformats.org/officeDocument/2006/relationships/notesMaster" Target="/ppt/notesMasters/notesMaster1.xml" Id="R039292c0e3d74767" /><Relationship Type="http://schemas.openxmlformats.org/officeDocument/2006/relationships/presProps" Target="/ppt/presProps.xml" Id="Raecf850432f84c4c" /><Relationship Type="http://schemas.openxmlformats.org/officeDocument/2006/relationships/tableStyles" Target="/ppt/tableStyles.xml" Id="Rf14df4de3b224607" /><Relationship Type="http://schemas.openxmlformats.org/officeDocument/2006/relationships/slide" Target="/ppt/slides/slide1.xml" Id="Rbd406e49898c4613" /><Relationship Type="http://schemas.openxmlformats.org/officeDocument/2006/relationships/slide" Target="/ppt/slides/slide2.xml" Id="R4b83a701b70f4262" /><Relationship Type="http://schemas.openxmlformats.org/officeDocument/2006/relationships/slide" Target="/ppt/slides/slide3.xml" Id="R8ea7770c3d9d415a" /><Relationship Type="http://schemas.openxmlformats.org/officeDocument/2006/relationships/slide" Target="/ppt/slides/slide4.xml" Id="Rb19e7c5b28e54a1b" /><Relationship Type="http://schemas.openxmlformats.org/officeDocument/2006/relationships/slide" Target="/ppt/slides/slide5.xml" Id="R0faeeb995db842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431722064f47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a271047a564792" /><Relationship Type="http://schemas.openxmlformats.org/officeDocument/2006/relationships/notesMaster" Target="/ppt/notesMasters/notesMaster1.xml" Id="R8491b744ff344c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75cf1066c14799" /><Relationship Type="http://schemas.openxmlformats.org/officeDocument/2006/relationships/notesMaster" Target="/ppt/notesMasters/notesMaster1.xml" Id="R80e916a9fbb24e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5a4eb40cdd413b" /><Relationship Type="http://schemas.openxmlformats.org/officeDocument/2006/relationships/notesMaster" Target="/ppt/notesMasters/notesMaster1.xml" Id="Rf3513a6c6f9148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c33875ce3d4cab" /><Relationship Type="http://schemas.openxmlformats.org/officeDocument/2006/relationships/notesMaster" Target="/ppt/notesMasters/notesMaster1.xml" Id="R17b9242e98f64c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538495c7194a28" /><Relationship Type="http://schemas.openxmlformats.org/officeDocument/2006/relationships/notesMaster" Target="/ppt/notesMasters/notesMaster1.xml" Id="Rb861cb8db4c94b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本页为专利讨论稿封面。代码基线：vllm-ascend/spec1 @ 5403af1b8。对照基线：0bf84a84e（重放后的 DSpark adaptive verification 功能基线）。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代码依据：当前文档 docs/source/user_guide/configuration/additional_config.md；对照实现 0bf84a84e 的 DSpark adaptive verification；当前控制器见 vllm_ascend/dynamic_spec.py。背景结论仅描述机制，不宣称稳定性能收益。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代码依据：vllm_ascend/worker/v2/spec_decode/physical_k_profile.py 的全批量桶 profile 与 128 步评分节流；vllm_ascend/dynamic_spec.py 的分桶状态、跨桶一致性保护和逐步控制；vllm_ascend/worker/v2/spec_decode/hardware_aware.py 的宽度执行适配。公式为实现逻辑的概念化表达。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对照依据：0bf84a84e / 上游 DSpark adaptive verification。新增实现依据：5403af1b8 及当前 vllm_ascend/dynamic_spec.py、worker/v2/spec_decode/hardware_aware.py、worker/v2/spec_decode/physical_k_profile.py。此表用于说明技术边界，避免将上游置信头算法本身作为新增发明点。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创新点来自当前 spec1 @ 5403af1b8：dynamic_spec.py 的全批量分桶、跨层桶一致性和 scheduler 接入；physical_k_profile.py 的多 K 启动 profiling、每桶周期评分、慢 rank 聚合与安全边界；hardware_aware.py 的宽度匹配图与 buffer/元数据切换。专利撰写建议不构成法律意见；正式申请前应由专利代理人结合现有技术检索调整权利要求。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4626e5c51e478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0200ab475645c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0a078bb5b54f7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917360e4ce46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cfddfe1c704ea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0c25924b5b44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4AAC56-93ED-42C2-8D75-12214CB4AD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046127-B303-4B38-B409-3DADA561FA7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34315C-4702-4330-BAC4-74F57CF5E0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A513E1-4AC7-4B47-BEF2-E420B94AA1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8B0826A-1872-4835-A06A-4C3DFE7107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2229176-99CD-4A24-B8E0-3954C5E25F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A78733-DC7C-459A-9470-CC96EE2449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5C508A7-5482-4307-880A-CED00D8839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107A5B-2C9A-4884-945A-3AEFE6EAF4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2C5374-4194-4319-B4B9-9F887B07FD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1ce54a6b1f4c37" /><Relationship Type="http://schemas.openxmlformats.org/officeDocument/2006/relationships/slideLayout" Target="/ppt/slideLayouts/slideLayout1.xml" Id="R98c11ef007004c51" /><Relationship Type="http://schemas.openxmlformats.org/officeDocument/2006/relationships/slideLayout" Target="/ppt/slideLayouts/slideLayout2.xml" Id="R3837ee09ddc74978" /><Relationship Type="http://schemas.openxmlformats.org/officeDocument/2006/relationships/slideLayout" Target="/ppt/slideLayouts/slideLayout3.xml" Id="R0ef36edf961e49fd" /><Relationship Type="http://schemas.openxmlformats.org/officeDocument/2006/relationships/slideLayout" Target="/ppt/slideLayouts/slideLayout4.xml" Id="Rdac138bdf9774840" /><Relationship Type="http://schemas.openxmlformats.org/officeDocument/2006/relationships/slideLayout" Target="/ppt/slideLayouts/slideLayout5.xml" Id="R95ad3b13138a483c" /><Relationship Type="http://schemas.openxmlformats.org/officeDocument/2006/relationships/slideLayout" Target="/ppt/slideLayouts/slideLayout6.xml" Id="Rfc84615b56cc44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c11ef007004c51"/>
    <p:sldLayoutId xmlns:r="http://schemas.openxmlformats.org/officeDocument/2006/relationships" id="2147483650" r:id="R3837ee09ddc74978"/>
    <p:sldLayoutId xmlns:r="http://schemas.openxmlformats.org/officeDocument/2006/relationships" id="2147483651" r:id="R0ef36edf961e49fd"/>
    <p:sldLayoutId xmlns:r="http://schemas.openxmlformats.org/officeDocument/2006/relationships" id="2147483652" r:id="Rdac138bdf9774840"/>
    <p:sldLayoutId xmlns:r="http://schemas.openxmlformats.org/officeDocument/2006/relationships" id="2147483653" r:id="R95ad3b13138a483c"/>
    <p:sldLayoutId xmlns:r="http://schemas.openxmlformats.org/officeDocument/2006/relationships" id="2147483654" r:id="Rfc84615b56cc44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cd8aec2c724702" /><Relationship Type="http://schemas.openxmlformats.org/officeDocument/2006/relationships/notesSlide" Target="/ppt/notesSlides/notesSlide1.xml" Id="R815e2699b98143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8ca02c919246f2" /><Relationship Type="http://schemas.openxmlformats.org/officeDocument/2006/relationships/notesSlide" Target="/ppt/notesSlides/notesSlide2.xml" Id="R189c6d6f195e48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12a9f92ae749ea" /><Relationship Type="http://schemas.openxmlformats.org/officeDocument/2006/relationships/notesSlide" Target="/ppt/notesSlides/notesSlide3.xml" Id="R65d03986811a4e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26b1ef9e634e5a" /><Relationship Type="http://schemas.openxmlformats.org/officeDocument/2006/relationships/notesSlide" Target="/ppt/notesSlides/notesSlide4.xml" Id="R6d6314e44cb04c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5ee30e22754e1a" /><Relationship Type="http://schemas.openxmlformats.org/officeDocument/2006/relationships/notesSlide" Target="/ppt/notesSlides/notesSlide5.xml" Id="R79e36f5fbae74f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5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88BD12-697C-4B02-A33F-1C33299B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1143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C8"/>
          </a:solidFill>
          <a:ln xmlns:a="http://schemas.openxmlformats.org/drawingml/2006/main" w="9525">
            <a:solidFill>
              <a:srgbClr val="12B8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3B9E5-57AB-41F1-8428-64A2B6EC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19200"/>
            <a:ext cx="876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面向 Ascend 的双层硬件感知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投机解码方法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B9A76-F47E-45AE-8C05-DD40D4CE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945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B7C5E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7C5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7C5E8"/>
                </a:solidFill>
                <a:latin typeface="Microsoft YaHei"/>
                <a:ea typeface="Microsoft YaHei"/>
                <a:cs typeface="Microsoft YaHei"/>
              </a:rPr>
              <a:t>基于置信头的逻辑验证预算与物理草稿宽度协同控制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42B5C-B9CA-46C2-BCB7-3E9FC123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8294B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8294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294BE"/>
                </a:solidFill>
                <a:latin typeface="Microsoft YaHei"/>
                <a:ea typeface="Microsoft YaHei"/>
                <a:cs typeface="Microsoft YaHei"/>
              </a:rPr>
              <a:t>专利方案梳理  ·  spec1 代码差异  · 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59BCC-CC4E-4413-9780-E94F2B25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24450"/>
            <a:ext cx="781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A5E"/>
          </a:solidFill>
          <a:ln xmlns:a="http://schemas.openxmlformats.org/drawingml/2006/main" w="9525">
            <a:solidFill>
              <a:srgbClr val="2C3A5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C99AC3-6731-4E6C-A822-7301FC79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911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核心命题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45A11-1260-4CA8-9D40-BB429B7F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3149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让系统同时决定“验证多少”与“实际生成多少”，并以目标 NPU 的真实代价为依据。</a:t>
            </a:r>
          </a:p>
        </p:txBody>
      </p:sp>
    </p:spTree>
    <p:extLst>
      <p:ext uri="{BB962C8B-B14F-4D97-AF65-F5344CB8AC3E}">
        <p14:creationId xmlns:p14="http://schemas.microsoft.com/office/powerpoint/2010/main" val="197056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2870DB-9B1A-4DBB-9CA1-BC375AFC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F0F5D-8B55-4C02-A27F-086572A5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rPr>
              <a:t>技术背景与现有方案的边界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2D83B-D53A-4BE6-8723-CFB61166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2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置信头已能缩短验证前缀，但不会自动减少草稿模型已经完成的计算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0064D-BE9E-4901-8357-7BFB0547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A"/>
          </a:solidFill>
          <a:ln xmlns:a="http://schemas.openxmlformats.org/drawingml/2006/main" w="9525">
            <a:solidFill>
              <a:srgbClr val="D7DD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CE8AE-742A-434A-A475-EECE3FCD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现有置信头 / Adaptive Verification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CC38D-EF17-4353-8D6F-59DF675C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EAF0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9530D-F76C-4283-ACAA-33D814C7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置信头输出</a:t>
            </a:r>
          </a:p>
          <a:p xmlns:a="http://schemas.openxmlformats.org/drawingml/2006/main">
            <a: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逐位置概率 q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4FE96-685F-4347-B433-FDD5D666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5265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79C532-7FBA-46F4-A772-D9C906AD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952625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5F8FA"/>
          </a:solidFill>
          <a:ln xmlns:a="http://schemas.openxmlformats.org/drawingml/2006/main" w="9525">
            <a:solidFill>
              <a:srgbClr val="E5F8F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7115B-DD74-4F75-A9C7-029081B4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478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累计生存概率</a:t>
            </a:r>
          </a:p>
          <a:p xmlns:a="http://schemas.openxmlformats.org/drawingml/2006/main">
            <a: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survival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D773E8-278F-418B-840F-C78A1877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5265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D82E43-13F0-4FED-B8EC-1EC7E203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52625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E8F6F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54D44-6CB0-4ACB-9618-3AD40638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478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选择逻辑验证长度 L</a:t>
            </a:r>
          </a:p>
          <a:p xmlns:a="http://schemas.openxmlformats.org/drawingml/2006/main">
            <a: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减少 target 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DBA9B-F4CB-4E95-ADD4-C7337948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54483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1E6"/>
          </a:solidFill>
          <a:ln xmlns:a="http://schemas.openxmlformats.org/drawingml/2006/main" w="9525">
            <a:solidFill>
              <a:srgbClr val="F28B3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85AA02-991A-4270-8D2E-92821354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rPr>
              <a:t>物理草稿宽度仍为 Kmax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A6807-7CA5-4CC8-B444-F1B8E82F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7125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即使只验证 L=2，draft 仍可能先生成 K=5，未使用后缀已经消耗 NPU 计算与图执行时间。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E5C2B6-1846-433E-8782-D5FA6C07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5339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Kmax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9FFD90-B12D-4428-95FF-CC59C50F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76750"/>
            <a:ext cx="514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C6B"/>
          </a:solidFill>
          <a:ln xmlns:a="http://schemas.openxmlformats.org/drawingml/2006/main" w="9525">
            <a:solidFill>
              <a:srgbClr val="278C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97BD67-080E-4DCB-88C3-3B208D60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339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BA5BD0-23B2-4967-8B90-888461F7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76750"/>
            <a:ext cx="514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C6B"/>
          </a:solidFill>
          <a:ln xmlns:a="http://schemas.openxmlformats.org/drawingml/2006/main" w="9525">
            <a:solidFill>
              <a:srgbClr val="278C6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DADE33-4129-4C0D-9AD6-880E8336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339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959928-8E50-43C1-89E0-0487A2EE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476750"/>
            <a:ext cx="514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8C"/>
          </a:solidFill>
          <a:ln xmlns:a="http://schemas.openxmlformats.org/drawingml/2006/main" w="9525">
            <a:solidFill>
              <a:srgbClr val="D9B18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971CA1-A7D1-4882-8243-AB9432F0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5339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DF71AA-AE5D-4A79-8A66-0C921241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76750"/>
            <a:ext cx="514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8C"/>
          </a:solidFill>
          <a:ln xmlns:a="http://schemas.openxmlformats.org/drawingml/2006/main" w="9525">
            <a:solidFill>
              <a:srgbClr val="D9B18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EA1E3F-F825-4187-BEC5-E568B594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339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D22F67-1A89-40BE-A353-DCB04385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76750"/>
            <a:ext cx="514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8C"/>
          </a:solidFill>
          <a:ln xmlns:a="http://schemas.openxmlformats.org/drawingml/2006/main" w="9525">
            <a:solidFill>
              <a:srgbClr val="D9B18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9A6D35-78D3-4E77-9707-8944511F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339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160954-0354-438A-A728-225122BF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434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rPr>
              <a:t>实际验证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4D8C16-59A6-4234-99F5-FA99A426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434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rPr>
              <a:t>已生成但未使用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7DF941-C281-4003-AC20-D7A44070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409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Ascend 场景暴露的三类错配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68E97E-67AF-4805-B812-AE28FF44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1930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B36"/>
          </a:solidFill>
          <a:ln xmlns:a="http://schemas.openxmlformats.org/drawingml/2006/main" w="9525">
            <a:solidFill>
              <a:srgbClr val="F28B36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69769A-A83E-47F0-9070-DF469849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574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rPr>
              <a:t>计算错配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C5D260-DA0B-4A05-9194-4DB16AC3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62200"/>
            <a:ext cx="417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逻辑 L 变短不等于物理 K 变短，draft 后缀仍被计算。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5E7400-ACDC-4FD2-B38A-890BE88C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2420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B50"/>
          </a:solidFill>
          <a:ln xmlns:a="http://schemas.openxmlformats.org/drawingml/2006/main" w="9525">
            <a:solidFill>
              <a:srgbClr val="C74B5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40FBC4-BBEE-4D7B-9CAB-80222B15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623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C74B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C7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4B50"/>
                </a:solidFill>
                <a:latin typeface="Microsoft YaHei"/>
                <a:ea typeface="Microsoft YaHei"/>
                <a:cs typeface="Microsoft YaHei"/>
              </a:rPr>
              <a:t>硬件错配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37FABD-75D8-461C-9448-10EE8C2A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67100"/>
            <a:ext cx="417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不同 K 对应的图和 kernel 延迟可能非单调，K 更小未必更快。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238FA3-BBBD-4651-974C-30F30029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2910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D1"/>
          </a:solidFill>
          <a:ln xmlns:a="http://schemas.openxmlformats.org/drawingml/2006/main" w="9525">
            <a:solidFill>
              <a:srgbClr val="7B61D1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5CB1E1-73E3-4FE2-B6C2-30AA3B72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672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负载错配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EF668D-6C34-443F-806C-ADEC6781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72000"/>
            <a:ext cx="417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RL rollout 的 batch 会随 EOS 缩小，同一 K 无法覆盖各批量档位。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492026-AF33-41D1-B929-46E6CC25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429250"/>
            <a:ext cx="4533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1530"/>
          </a:solidFill>
          <a:ln xmlns:a="http://schemas.openxmlformats.org/drawingml/2006/main" w="9525">
            <a:solidFill>
              <a:srgbClr val="0B1530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857F9B-FF18-4D40-8445-0D3183BF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600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待解决问题：把“逻辑验证”延伸到“物理生成与执行”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29E130-E3EA-4206-BC86-57AF07D6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代码基线  spec1 @ 5403af1b8    对照基线  0bf84a84e / 上游 DSpark Adaptive Verification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760578-24E9-4DEA-8B6B-04870B5D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专利讨论稿</a:t>
            </a:r>
          </a:p>
        </p:txBody>
      </p:sp>
    </p:spTree>
    <p:extLst>
      <p:ext uri="{BB962C8B-B14F-4D97-AF65-F5344CB8AC3E}">
        <p14:creationId xmlns:p14="http://schemas.microsoft.com/office/powerpoint/2010/main" val="7733282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19E37D-C2FB-4778-B311-599837E4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51D5B-025C-4C94-AAC7-DA0CFE0D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rPr>
              <a:t>方案：置信驱动的逻辑预算 + 硬件驱动的物理 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BC5E2-45B4-44AC-B6EC-F91F81CF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2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启动期采集 NPU 代价，运行期按 batch 档位闭环选择实际 draft 宽度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E7EF2-321C-49A3-B127-B6B843FE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A"/>
          </a:solidFill>
          <a:ln xmlns:a="http://schemas.openxmlformats.org/drawingml/2006/main" w="9525">
            <a:solidFill>
              <a:srgbClr val="D7DD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83CE3-9AFF-4DB0-BB73-D20F2A69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启动期：建立可复用的硬件证据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CD44E-C987-4651-BC37-BA6725B4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9525">
            <a:solidFill>
              <a:srgbClr val="F1ED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C30D2-A72A-4902-B863-CEC2364E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1447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候选 K</a:t>
            </a:r>
          </a:p>
          <a:p xmlns:a="http://schemas.openxmlformats.org/drawingml/2006/main">
            <a:pPr>
              <a:defRPr sz="15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min_k … Kmax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1B46B-E92D-4298-BCED-C2685E49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28825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8D42EC-3609-48F1-A741-C362F848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85950"/>
            <a:ext cx="1809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EAF0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6F2C1-030B-4E68-8545-2CEEA5F8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81200"/>
            <a:ext cx="1543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逐 batch 档位</a:t>
            </a:r>
          </a:p>
          <a:p xmlns:a="http://schemas.openxmlformats.org/drawingml/2006/main">
            <a:pPr>
              <a:defRPr sz="15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回放 draft 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EF3452-A123-4038-8E05-F23EA3A6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28825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DC5216-C2F7-4F1E-9AB3-A3E7B05C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85950"/>
            <a:ext cx="200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5F8FA"/>
          </a:solidFill>
          <a:ln xmlns:a="http://schemas.openxmlformats.org/drawingml/2006/main" w="9525">
            <a:solidFill>
              <a:srgbClr val="E5F8F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DDD99-7EE0-4500-8BAC-6F29E6BD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981200"/>
            <a:ext cx="173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记录 drafter_ms</a:t>
            </a:r>
          </a:p>
          <a:p xmlns:a="http://schemas.openxmlformats.org/drawingml/2006/main">
            <a:pPr>
              <a:defRPr sz="15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TP 取最慢 rank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700F6-D62B-4BCA-8C36-9E0598D7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28825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B1BA03-F50E-4B9B-81A8-3DB36676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85950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E8F6F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670264-30A1-480E-9AA4-7781B8AF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81200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rPr>
              <a:t>K × batch</a:t>
            </a:r>
          </a:p>
          <a:p xmlns:a="http://schemas.openxmlformats.org/drawingml/2006/main">
            <a:pPr>
              <a:def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rPr>
              <a:t>成本表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9404A2-2392-46C8-8B00-16402CB8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14525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rPr>
              <a:t>保留 Kmax 完整 profile；低 K 对 1/2/4/8…批量桶稀疏采样；超出实测覆盖不外推。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E44FD5-2CD4-4F17-9157-0CA32127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43225"/>
            <a:ext cx="10801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A"/>
          </a:solidFill>
          <a:ln xmlns:a="http://schemas.openxmlformats.org/drawingml/2006/main" w="9525">
            <a:solidFill>
              <a:srgbClr val="D7DD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2F58AA-209A-47DC-9C09-A367BD88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运行期：两层决策闭环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6823FE-27C5-464E-8D29-B329CB20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428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EAF0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538ECA-DDB7-4F8E-8294-F1CE31B8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1162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置信头</a:t>
            </a:r>
          </a:p>
          <a:p xmlns:a="http://schemas.openxmlformats.org/drawingml/2006/main">
            <a:pPr>
              <a:defRPr sz="142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survival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12CA16-3CE9-4522-A2B1-F028F762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766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4B2C6C-5D29-46B9-A9A8-54918F53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14750"/>
            <a:ext cx="161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5F8FA"/>
          </a:solidFill>
          <a:ln xmlns:a="http://schemas.openxmlformats.org/drawingml/2006/main" w="9525">
            <a:solidFill>
              <a:srgbClr val="E5F8F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BE9CA2-BDD7-4465-B820-F3829C54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100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verify 代价</a:t>
            </a:r>
          </a:p>
          <a:p xmlns:a="http://schemas.openxmlformats.org/drawingml/2006/main">
            <a:pPr>
              <a:defRPr sz="142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上游 AV 曲线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7D97C9-E132-4945-B8A3-D0657F89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766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1ADD39-5B32-432D-86EB-435F1410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14750"/>
            <a:ext cx="161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9525">
            <a:solidFill>
              <a:srgbClr val="F1ED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DA2F6F-8D24-48DB-B4CB-7C9A607C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100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draft 代价</a:t>
            </a:r>
          </a:p>
          <a:p xmlns:a="http://schemas.openxmlformats.org/drawingml/2006/main">
            <a:pPr>
              <a:defRPr sz="142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Tdraft(B,K)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716571-DD07-4204-A728-9E93DCEA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57625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0FB713-EE4D-46E6-9B59-A980807A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14750"/>
            <a:ext cx="18288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1E6"/>
          </a:solidFill>
          <a:ln xmlns:a="http://schemas.openxmlformats.org/drawingml/2006/main" w="9525">
            <a:solidFill>
              <a:srgbClr val="FFF1E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F45504-3556-4212-A63F-02B2254B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100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rPr>
              <a:t>选择 K*</a:t>
            </a:r>
          </a:p>
          <a:p xmlns:a="http://schemas.openxmlformats.org/drawingml/2006/main">
            <a:pPr>
              <a:defRPr sz="142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rPr>
              <a:t>最大预期 goodput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5533FF-2EEF-4C8C-962F-0373DD15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57625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1D1D2C-0BF9-40D5-8179-C95C95CF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22479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E8F6F0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8FBE3C-913A-42B6-99F7-6ABDE7CB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1000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rPr>
              <a:t>scheduler</a:t>
            </a:r>
          </a:p>
          <a:p xmlns:a="http://schemas.openxmlformats.org/drawingml/2006/main">
            <a:pPr>
              <a:defRPr sz="1425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rPr>
              <a:t>按 batch bucket 生效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6182F7-2E1B-4A62-90E9-69DF505F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105918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4904A0-A641-4A8B-A85F-81F2D47E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rPr>
              <a:t>K* = arg max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F20031-935C-42D6-A1CF-89C800B8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958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预期接受 token 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822ACC-DDC3-4971-9408-F6C73608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210175"/>
            <a:ext cx="255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E6"/>
          </a:solidFill>
          <a:ln xmlns:a="http://schemas.openxmlformats.org/drawingml/2006/main" w="9525">
            <a:solidFill>
              <a:srgbClr val="2E6BE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E989EC-8B69-4256-BF8B-BA52129F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959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Tdraft(B,K) + Tverify(B,L)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02AC93-11B1-44F0-995D-F7FA4CA5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815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rPr>
              <a:t>每桶首步评分，此后每 128 步更新；控制器逐步执行滞回、驻留、跨桶保护和周期 full-K 探测。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142FB2-991B-4999-8FD6-9CFF37CE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代码基线  spec1 @ 5403af1b8    对照基线  0bf84a84e / 上游 DSpark Adaptive Verification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9DAB9D-1B6B-459A-86B3-A2A61F5C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专利讨论稿</a:t>
            </a:r>
          </a:p>
        </p:txBody>
      </p:sp>
    </p:spTree>
    <p:extLst>
      <p:ext uri="{BB962C8B-B14F-4D97-AF65-F5344CB8AC3E}">
        <p14:creationId xmlns:p14="http://schemas.microsoft.com/office/powerpoint/2010/main" val="2333069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B3762-A28A-4FE4-AB72-F1CC08AF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F88D1A-59D7-4208-8950-9D3C85AE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rPr>
              <a:t>与现有硬件感知置信头的实质差异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625E2-3191-47B8-BB2C-0B63EC73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2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新增方案没有替换置信头，而是在其上增加物理生成宽度与 NPU 执行闭环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5048E-5CEA-4398-931A-20F3E5DF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A"/>
          </a:solidFill>
          <a:ln xmlns:a="http://schemas.openxmlformats.org/drawingml/2006/main" w="9525">
            <a:solidFill>
              <a:srgbClr val="D7DDEA"/>
            </a:solidFill>
          </a:ln>
        </p:spPr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9D7F5-EF44-4E93-BFFD-297620548CA1}"/>
              </a:ext>
            </a:extLst>
          </p:cNvPr>
          <p:cNvGraphicFramePr/>
          <p:nvPr/>
        </p:nvGraphicFramePr>
        <p:xfrm>
          <a:off xmlns:a="http://schemas.openxmlformats.org/drawingml/2006/main" x="704850" y="1447800"/>
          <a:ext xmlns:a="http://schemas.openxmlformats.org/drawingml/2006/main" cx="10782300" cy="403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3924300"/>
                <a:gridCol w="4905375"/>
              </a:tblGrid>
              <a:tr h="6731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7DDEA"/>
                      </a:solidFill>
                      <a:prstDash val="solid"/>
                    </a:lnL>
                    <a:lnR w="9525">
                      <a:solidFill>
                        <a:srgbClr val="D7DDEA"/>
                      </a:solidFill>
                      <a:prstDash val="solid"/>
                    </a:lnR>
                    <a:lnT w="9525">
                      <a:solidFill>
                        <a:srgbClr val="D7DDEA"/>
                      </a:solidFill>
                      <a:prstDash val="solid"/>
                    </a:lnT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0B15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现有置信头 / Adaptive Verification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7DDEA"/>
                      </a:solidFill>
                      <a:prstDash val="solid"/>
                    </a:lnR>
                    <a:lnT w="9525">
                      <a:solidFill>
                        <a:srgbClr val="D7DDEA"/>
                      </a:solidFill>
                      <a:prstDash val="solid"/>
                    </a:lnT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0B15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spec1 新增功能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7DDEA"/>
                      </a:solidFill>
                      <a:prstDash val="solid"/>
                    </a:lnR>
                    <a:lnT w="9525">
                      <a:solidFill>
                        <a:srgbClr val="D7DDEA"/>
                      </a:solidFill>
                      <a:prstDash val="solid"/>
                    </a:lnT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0B1530"/>
                    </a:solidFill>
                  </a:tcPr>
                </a:tc>
              </a:tr>
              <a:tr h="6731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控制对象</a:t>
                      </a:r>
                    </a:p>
                  </a:txBody>
                  <a:tcPr marL="114300" marR="95250" marT="66675" marB="66675">
                    <a:lnL w="9525">
                      <a:solidFill>
                        <a:srgbClr val="D7DDEA"/>
                      </a:solidFill>
                      <a:prstDash val="solid"/>
                    </a:lnL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51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按置信度决定逻辑验证长度 L</a:t>
                      </a:r>
                    </a:p>
                  </a:txBody>
                  <a:tcPr marL="114300" marR="95250" marT="66675" marB="66675"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321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逻辑 L 与物理 draft K 分离控制，并闭环联动</a:t>
                      </a:r>
                    </a:p>
                  </a:txBody>
                  <a:tcPr marL="114300" marR="95250" marT="66675" marB="66675"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E5F8FA"/>
                    </a:solidFill>
                  </a:tcPr>
                </a:tc>
              </a:tr>
              <a:tr h="6731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硬件代价</a:t>
                      </a:r>
                    </a:p>
                  </a:txBody>
                  <a:tcPr marL="114300" marR="95250" marT="66675" marB="66675">
                    <a:lnL w="9525">
                      <a:solidFill>
                        <a:srgbClr val="D7DDEA"/>
                      </a:solidFill>
                      <a:prstDash val="solid"/>
                    </a:lnL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51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主要使用 target verify 代价曲线</a:t>
                      </a:r>
                    </a:p>
                  </a:txBody>
                  <a:tcPr marL="114300" marR="95250" marT="66675" marB="66675"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321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 NPU 实测 draft 代价 Tdraft(B,K)，与 verify 代价共同评分</a:t>
                      </a:r>
                    </a:p>
                  </a:txBody>
                  <a:tcPr marL="114300" marR="95250" marT="66675" marB="66675"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E5F8FA"/>
                    </a:solidFill>
                  </a:tcPr>
                </a:tc>
              </a:tr>
              <a:tr h="6731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决策粒度</a:t>
                      </a:r>
                    </a:p>
                  </a:txBody>
                  <a:tcPr marL="114300" marR="95250" marT="66675" marB="66675">
                    <a:lnL w="9525">
                      <a:solidFill>
                        <a:srgbClr val="D7DDEA"/>
                      </a:solidFill>
                      <a:prstDash val="solid"/>
                    </a:lnL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51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在固定 Kmax 的候选前缀中分配验证预算</a:t>
                      </a:r>
                    </a:p>
                  </a:txBody>
                  <a:tcPr marL="114300" marR="95250" marT="66675" marB="66675"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321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 min_k…Kmax 中为每个非空 batch bucket 选择真实生成宽度</a:t>
                      </a:r>
                    </a:p>
                  </a:txBody>
                  <a:tcPr marL="114300" marR="95250" marT="66675" marB="66675"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E5F8FA"/>
                    </a:solidFill>
                  </a:tcPr>
                </a:tc>
              </a:tr>
              <a:tr h="6731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执行适配</a:t>
                      </a:r>
                    </a:p>
                  </a:txBody>
                  <a:tcPr marL="114300" marR="95250" marT="66675" marB="66675">
                    <a:lnL w="9525">
                      <a:solidFill>
                        <a:srgbClr val="D7DDEA"/>
                      </a:solidFill>
                      <a:prstDash val="solid"/>
                    </a:lnL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51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单一最大宽度 draft 路径</a:t>
                      </a:r>
                    </a:p>
                  </a:txBody>
                  <a:tcPr marL="114300" marR="95250" marT="66675" marB="66675"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321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宽度匹配图、attention 元数据、稳定 buffer 与 active view 同步切换</a:t>
                      </a:r>
                    </a:p>
                  </a:txBody>
                  <a:tcPr marL="114300" marR="95250" marT="66675" marB="66675"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E5F8FA"/>
                    </a:solidFill>
                  </a:tcPr>
                </a:tc>
              </a:tr>
              <a:tr h="6731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状态与安全</a:t>
                      </a:r>
                    </a:p>
                  </a:txBody>
                  <a:tcPr marL="114300" marR="95250" marT="66675" marB="66675">
                    <a:lnL w="9525">
                      <a:solidFill>
                        <a:srgbClr val="D7DDEA"/>
                      </a:solidFill>
                      <a:prstDash val="solid"/>
                    </a:lnL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51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通用缓存与 fallback</a:t>
                      </a:r>
                    </a:p>
                  </a:txBody>
                  <a:tcPr marL="114300" marR="95250" marT="66675" marB="66675"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321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全范围分桶、跨层桶一致性、128 步评分、滞回驻留、full-K 探测与越界回退</a:t>
                      </a:r>
                    </a:p>
                  </a:txBody>
                  <a:tcPr marL="114300" marR="95250" marT="66675" marB="66675"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E5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EC05E-6C73-4C9C-B144-6F0D3639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10782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1530"/>
          </a:solidFill>
          <a:ln xmlns:a="http://schemas.openxmlformats.org/drawingml/2006/main" w="9525">
            <a:solidFill>
              <a:srgbClr val="0B153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19638A-2F32-43B4-A5FD-4A5F0AFE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76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核心差异：现有方案优化“验证多少”；spec1 进一步优化“真实生成多少、用哪条硬件路径执行”。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9FF17-9E1A-48DF-A7A7-DC4EAA58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代码基线  spec1 @ 5403af1b8    对照基线  0bf84a84e / 上游 DSpark Adaptive Verification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D68AB-B61F-4515-A3CA-429D24B2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专利讨论稿</a:t>
            </a:r>
          </a:p>
        </p:txBody>
      </p:sp>
    </p:spTree>
    <p:extLst>
      <p:ext uri="{BB962C8B-B14F-4D97-AF65-F5344CB8AC3E}">
        <p14:creationId xmlns:p14="http://schemas.microsoft.com/office/powerpoint/2010/main" val="7545367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D29999-0CE4-4B9B-92C1-70E444B2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1DE28-E310-47B7-8906-7CB7DB7B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rPr>
              <a:t>建议主张的创新点与权利要求层次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451F4-92E1-4734-8A55-34B7A511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2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独立权利要求聚焦双层闭环；具体模型、阈值和性能数字放入实施例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D99E2-747A-4618-AAB6-A9C965A4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A"/>
          </a:solidFill>
          <a:ln xmlns:a="http://schemas.openxmlformats.org/drawingml/2006/main" w="9525">
            <a:solidFill>
              <a:srgbClr val="D7DD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6AAC9-7BF9-43FA-BEDE-C1519256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可凝练为四组技术特征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8F1A6-58EB-4E59-B927-F17B3CD8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E6BE6"/>
          </a:solidFill>
          <a:ln xmlns:a="http://schemas.openxmlformats.org/drawingml/2006/main" w="9525">
            <a:solidFill>
              <a:srgbClr val="2E6B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8B206-FD8E-445A-A5D9-71F770EC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4F74F-C79A-49FC-B430-99CDA002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764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双层解耦协同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A5A16-F226-4D20-A933-80D55B95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812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置信头选择逻辑验证长度，物理 K 控制草稿实际生成宽度；两者通过成本评分与反馈相互约束。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2263C-B50E-42BB-B2D4-601C5221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7B61D1"/>
          </a:solidFill>
          <a:ln xmlns:a="http://schemas.openxmlformats.org/drawingml/2006/main" w="9525">
            <a:solidFill>
              <a:srgbClr val="7B61D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36D6B9-E786-4DBB-8FC6-BD24FEAE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863AE9-F51E-42A5-9783-F1DCDD71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670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多维硬件画像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56460-EB84-43EF-843A-01BD827D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718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启动期按 batch × K 采集 draft 图代价，TP 取最慢 rank；完整保留 Kmax 基线并禁止覆盖外推。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506237-743A-4DB9-B7E0-E6978470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8B36"/>
          </a:solidFill>
          <a:ln xmlns:a="http://schemas.openxmlformats.org/drawingml/2006/main" w="9525">
            <a:solidFill>
              <a:srgbClr val="F28B3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B5FA92-0D8D-47DD-859D-95C0D7BC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8D709-776F-4789-8D82-0CAFA681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57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rPr>
              <a:t>全范围分桶控制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5A9CDB-475C-4E3E-9452-CDA586AA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624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从 batch 1 起为每个 power-of-two 桶维护独立状态，并通过跨桶保护、评分节流、滞回与驻留控制切换。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4878CD-BD5E-43E6-85A1-13097CCD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78C6B"/>
          </a:solidFill>
          <a:ln xmlns:a="http://schemas.openxmlformats.org/drawingml/2006/main" w="9525">
            <a:solidFill>
              <a:srgbClr val="278C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88F84B-213E-4A0F-A044-8115A069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BBDC8D-0330-4F30-AEFB-CEEC6327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482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rPr>
              <a:t>宽度一致的执行适配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AD67E5-0807-456B-AC6C-63F2E2AD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530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同一决策同步约束图选择、attention 元数据、采样列和置信 buffer 视图，异常时恢复原状态。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2400E1-B2EA-4C50-80F6-8E0F307E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097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权利要求组织建议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DC5F0F-CDD6-43DA-86AE-DA9BE6D8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24050"/>
            <a:ext cx="44005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B1530"/>
          </a:solidFill>
          <a:ln xmlns:a="http://schemas.openxmlformats.org/drawingml/2006/main" w="9525">
            <a:solidFill>
              <a:srgbClr val="0B153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79E2B1-2387-4472-ABB6-4888FFC9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955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独立权利要求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F9F51E-5C3B-42FE-B65A-E5337693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0030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硬件画像获取 → 置信度生存概率处理 → 联合评分 → 物理 K 推荐 → scheduler 执行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648164-B1C8-4CF1-8D7E-370E7C8F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62300"/>
            <a:ext cx="44005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9525">
            <a:solidFill>
              <a:srgbClr val="7B61D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E423ED-6C5C-4F15-A629-8D93F03B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242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从属权利要求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A2DC0C-664D-48F2-A8EA-91C8EE42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57600"/>
            <a:ext cx="390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03200" indent="-101600">
              <a:spcAft>
                <a:spcPts val="300"/>
              </a:spcAft>
              <a:buChar char="•"/>
              <a:defRPr sz="120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全批量桶覆盖与跨层桶一致性保护</a:t>
            </a:r>
          </a:p>
          <a:p xmlns:a="http://schemas.openxmlformats.org/drawingml/2006/main">
            <a:pPr marL="203200" indent="-101600">
              <a:spcAft>
                <a:spcPts val="300"/>
              </a:spcAft>
              <a:buChar char="•"/>
              <a:defRPr sz="120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支配宽度过滤、TP 慢 rank 聚合</a:t>
            </a:r>
          </a:p>
          <a:p xmlns:a="http://schemas.openxmlformats.org/drawingml/2006/main">
            <a:pPr marL="203200" indent="-101600">
              <a:spcAft>
                <a:spcPts val="300"/>
              </a:spcAft>
              <a:buChar char="•"/>
              <a:defRPr sz="120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宽度匹配图与 buffer 视图切换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262D30-8CDD-450F-B092-7850A7C4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86300"/>
            <a:ext cx="44005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278C6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728149-B2C0-497F-9242-21C39E15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8577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rPr>
              <a:t>技术效果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F31391-D457-4F89-BE47-A69FCC07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1530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减少未验证草稿后缀；覆盖 RL rollout 缩减到 batch 1；摊薄评分成本；保持上游兼容与回退能力。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689E21-2355-4E17-9542-B25648CE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57900"/>
            <a:ext cx="10553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1E6"/>
          </a:solidFill>
          <a:ln xmlns:a="http://schemas.openxmlformats.org/drawingml/2006/main" w="9525">
            <a:solidFill>
              <a:srgbClr val="F28B3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66FCF6-D0DB-4D93-A4B3-5308F3BD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rPr>
              <a:t>撰写边界：不要把 Qwen、DSpark、min_k=3、128 步更新间隔或具体收益百分比写成独立权利要求的必要限定。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FD2E6C-55C3-4DEE-8FA4-2F3665F0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代码基线  spec1 @ 5403af1b8    对照基线  0bf84a84e / 上游 DSpark Adaptive Verification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3A010A-0E9A-47D6-960C-CE98F000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专利讨论稿</a:t>
            </a:r>
          </a:p>
        </p:txBody>
      </p:sp>
    </p:spTree>
    <p:extLst>
      <p:ext uri="{BB962C8B-B14F-4D97-AF65-F5344CB8AC3E}">
        <p14:creationId xmlns:p14="http://schemas.microsoft.com/office/powerpoint/2010/main" val="10409818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2026-10-13T03:53:39.0780000Z</dcterms:created>
  <dcterms:modified xsi:type="dcterms:W3CDTF">2026-10-13T03:53:39.0780000Z</dcterms:modified>
</coreProperties>
</file>