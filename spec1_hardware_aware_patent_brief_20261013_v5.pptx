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e6ae1f480db4b59" /><Relationship Type="http://schemas.openxmlformats.org/officeDocument/2006/relationships/extended-properties" Target="/docProps/app.xml" Id="R91f27469560b4a28" /><Relationship Type="http://schemas.openxmlformats.org/officeDocument/2006/relationships/officeDocument" Target="/ppt/presentation.xml" Id="R2d7bbde40e664e6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7ca6328ac3b49d2"/>
  </p:sldMasterIdLst>
  <p:notesMasterIdLst>
    <p:notesMasterId xmlns:r="http://schemas.openxmlformats.org/officeDocument/2006/relationships" r:id="R6ad98b120a244852"/>
  </p:notesMasterIdLst>
  <p:sldIdLst>
    <p:sldId xmlns:r="http://schemas.openxmlformats.org/officeDocument/2006/relationships" id="256" r:id="R8060b168a0ec4371"/>
    <p:sldId xmlns:r="http://schemas.openxmlformats.org/officeDocument/2006/relationships" id="257" r:id="Re78ead608ef54595"/>
    <p:sldId xmlns:r="http://schemas.openxmlformats.org/officeDocument/2006/relationships" id="258" r:id="R370dd12b037b46bc"/>
    <p:sldId xmlns:r="http://schemas.openxmlformats.org/officeDocument/2006/relationships" id="259" r:id="R5271fb1855874965"/>
    <p:sldId xmlns:r="http://schemas.openxmlformats.org/officeDocument/2006/relationships" id="260" r:id="R2f82d1788a96486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c19cecbab764988" /><Relationship Type="http://schemas.openxmlformats.org/officeDocument/2006/relationships/slideMaster" Target="/ppt/slideMasters/slideMaster1.xml" Id="R57ca6328ac3b49d2" /><Relationship Type="http://schemas.openxmlformats.org/officeDocument/2006/relationships/notesMaster" Target="/ppt/notesMasters/notesMaster1.xml" Id="R6ad98b120a244852" /><Relationship Type="http://schemas.openxmlformats.org/officeDocument/2006/relationships/presProps" Target="/ppt/presProps.xml" Id="R50169e00277249fd" /><Relationship Type="http://schemas.openxmlformats.org/officeDocument/2006/relationships/tableStyles" Target="/ppt/tableStyles.xml" Id="Refa64cb8eb6348d0" /><Relationship Type="http://schemas.openxmlformats.org/officeDocument/2006/relationships/slide" Target="/ppt/slides/slide1.xml" Id="R8060b168a0ec4371" /><Relationship Type="http://schemas.openxmlformats.org/officeDocument/2006/relationships/slide" Target="/ppt/slides/slide2.xml" Id="Re78ead608ef54595" /><Relationship Type="http://schemas.openxmlformats.org/officeDocument/2006/relationships/slide" Target="/ppt/slides/slide3.xml" Id="R370dd12b037b46bc" /><Relationship Type="http://schemas.openxmlformats.org/officeDocument/2006/relationships/slide" Target="/ppt/slides/slide4.xml" Id="R5271fb1855874965" /><Relationship Type="http://schemas.openxmlformats.org/officeDocument/2006/relationships/slide" Target="/ppt/slides/slide5.xml" Id="R2f82d1788a96486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303b0da9ba644f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69b378e50fa420f" /><Relationship Type="http://schemas.openxmlformats.org/officeDocument/2006/relationships/notesMaster" Target="/ppt/notesMasters/notesMaster1.xml" Id="Raa48b5beff0547e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2c1a806e1e94de7" /><Relationship Type="http://schemas.openxmlformats.org/officeDocument/2006/relationships/notesMaster" Target="/ppt/notesMasters/notesMaster1.xml" Id="R0b1822f743724ee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b0081a3e25e4c0f" /><Relationship Type="http://schemas.openxmlformats.org/officeDocument/2006/relationships/notesMaster" Target="/ppt/notesMasters/notesMaster1.xml" Id="R27ee2859ab43412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fbd6aeef1d544cd" /><Relationship Type="http://schemas.openxmlformats.org/officeDocument/2006/relationships/notesMaster" Target="/ppt/notesMasters/notesMaster1.xml" Id="R6032dc68c2544e3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41446c04b874f40" /><Relationship Type="http://schemas.openxmlformats.org/officeDocument/2006/relationships/notesMaster" Target="/ppt/notesMasters/notesMaster1.xml" Id="Rc06bf611ee784f5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本页为专利讨论稿封面。代码基线：vllm-ascend/spec1 @ 5403af1b8。对照基线：0bf84a84e（重放后的 DSpark adaptive verification 功能基线）。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代码依据：当前文档 docs/source/user_guide/configuration/additional_config.md；对照实现 0bf84a84e 的 DSpark adaptive verification；当前控制器见 vllm_ascend/dynamic_spec.py。背景结论仅描述机制，不宣称稳定性能收益。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代码依据：vllm_ascend/worker/v2/spec_decode/physical_k_profile.py 的全批量桶 profile 与 128 步评分节流；vllm_ascend/dynamic_spec.py 的分桶状态、跨桶一致性保护和逐步控制；vllm_ascend/worker/v2/spec_decode/hardware_aware.py 的宽度执行适配。公式为实现逻辑的概念化表达。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对照依据：0bf84a84e / 上游 DSpark adaptive verification。新增实现依据：5403af1b8 及当前 vllm_ascend/dynamic_spec.py、worker/v2/spec_decode/hardware_aware.py、worker/v2/spec_decode/physical_k_profile.py。此表用于说明技术边界，避免将上游置信头算法本身作为新增发明点。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技术效果与对应机制来自当前 spec1 @ 5403af1b8。dynamic_spec.py 提供分桶状态、跨层一致性和 scheduler 接入；physical_k_profile.py 提供 batch × K 实测代价、评分节流和安全边界；hardware_aware.py 提供宽度匹配的图、buffer 和元数据切换。未加入未经实测验证的具体性能百分比。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2249c03aaa1426b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27fd912c3f0423d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7836047d9d6498d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5ab893be2da4454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cf9555657b74050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da7be7555b24a0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4D4B09C-7783-4648-A7F8-49309171BBC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6C6CCDB2-6BA3-4C2E-8371-33E7EC1D3934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2943466F-5029-4BA8-95E3-27A42960B5A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4B9BD4A-28E3-4603-88CC-AB2C047F5AA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044C8601-6C90-481B-924F-4AB68DE771A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83D1402A-10D0-497C-99F9-B2D68FDA0A3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AED0212D-8D40-46A3-AC54-77FE8A75506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2DAE5F7F-70EB-4629-8490-4388F05D11D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E93A0C6-FDC9-4FAE-ABCD-527BB37939B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43AD1701-AB8D-4C4E-9F20-1C041D26681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2d30075cd044cd0" /><Relationship Type="http://schemas.openxmlformats.org/officeDocument/2006/relationships/slideLayout" Target="/ppt/slideLayouts/slideLayout1.xml" Id="R926fb8dddb7f4d1d" /><Relationship Type="http://schemas.openxmlformats.org/officeDocument/2006/relationships/slideLayout" Target="/ppt/slideLayouts/slideLayout2.xml" Id="R4a4dc13eb0f74191" /><Relationship Type="http://schemas.openxmlformats.org/officeDocument/2006/relationships/slideLayout" Target="/ppt/slideLayouts/slideLayout3.xml" Id="R7d9d070b8277402d" /><Relationship Type="http://schemas.openxmlformats.org/officeDocument/2006/relationships/slideLayout" Target="/ppt/slideLayouts/slideLayout4.xml" Id="R8e4b56c9413e4859" /><Relationship Type="http://schemas.openxmlformats.org/officeDocument/2006/relationships/slideLayout" Target="/ppt/slideLayouts/slideLayout5.xml" Id="Rd075c93c231446b3" /><Relationship Type="http://schemas.openxmlformats.org/officeDocument/2006/relationships/slideLayout" Target="/ppt/slideLayouts/slideLayout6.xml" Id="Reef8bd68d793497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26fb8dddb7f4d1d"/>
    <p:sldLayoutId xmlns:r="http://schemas.openxmlformats.org/officeDocument/2006/relationships" id="2147483650" r:id="R4a4dc13eb0f74191"/>
    <p:sldLayoutId xmlns:r="http://schemas.openxmlformats.org/officeDocument/2006/relationships" id="2147483651" r:id="R7d9d070b8277402d"/>
    <p:sldLayoutId xmlns:r="http://schemas.openxmlformats.org/officeDocument/2006/relationships" id="2147483652" r:id="R8e4b56c9413e4859"/>
    <p:sldLayoutId xmlns:r="http://schemas.openxmlformats.org/officeDocument/2006/relationships" id="2147483653" r:id="Rd075c93c231446b3"/>
    <p:sldLayoutId xmlns:r="http://schemas.openxmlformats.org/officeDocument/2006/relationships" id="2147483654" r:id="Reef8bd68d793497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d788fd93b884021" /><Relationship Type="http://schemas.openxmlformats.org/officeDocument/2006/relationships/notesSlide" Target="/ppt/notesSlides/notesSlide1.xml" Id="R36606bb3f7c54d5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c104ffebfd84efb" /><Relationship Type="http://schemas.openxmlformats.org/officeDocument/2006/relationships/notesSlide" Target="/ppt/notesSlides/notesSlide2.xml" Id="Rfc564e32aa6e496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ecaed2bb8204841" /><Relationship Type="http://schemas.openxmlformats.org/officeDocument/2006/relationships/notesSlide" Target="/ppt/notesSlides/notesSlide3.xml" Id="R44ea7f062e05439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e6c2590e90e4e61" /><Relationship Type="http://schemas.openxmlformats.org/officeDocument/2006/relationships/notesSlide" Target="/ppt/notesSlides/notesSlide4.xml" Id="Rfb5351707ad5499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f47d11bed9c47ce" /><Relationship Type="http://schemas.openxmlformats.org/officeDocument/2006/relationships/notesSlide" Target="/ppt/notesSlides/notesSlide5.xml" Id="Ra831117a7674486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53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09C4CF-CEAC-4E86-A9A8-CB84DE570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23900"/>
            <a:ext cx="114300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B8C8"/>
          </a:solidFill>
          <a:ln xmlns:a="http://schemas.openxmlformats.org/drawingml/2006/main" w="9525">
            <a:solidFill>
              <a:srgbClr val="12B8C8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A7E55D-1069-454A-8828-03C94C88F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219200"/>
            <a:ext cx="9144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4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4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硬件代价驱动的物理草稿宽度</a:t>
            </a:r>
          </a:p>
          <a:p xmlns:a="http://schemas.openxmlformats.org/drawingml/2006/main">
            <a:pPr>
              <a:defRPr sz="4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动态控制方法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809891-CDBC-443B-8D60-CEB1B030F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219450"/>
            <a:ext cx="876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950" b="0">
                <a:solidFill>
                  <a:srgbClr val="B7C5E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B7C5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B7C5E8"/>
                </a:solidFill>
                <a:latin typeface="Microsoft YaHei"/>
                <a:ea typeface="Microsoft YaHei"/>
                <a:cs typeface="Microsoft YaHei"/>
              </a:rPr>
              <a:t>现有置信头方案与 spec1 新方案差异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2B7650-8B18-4133-949C-CC56FA9FD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038600"/>
            <a:ext cx="723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350" b="0">
                <a:solidFill>
                  <a:srgbClr val="8294B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8294B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8294BE"/>
                </a:solidFill>
                <a:latin typeface="Microsoft YaHei"/>
                <a:ea typeface="Microsoft YaHei"/>
                <a:cs typeface="Microsoft YaHei"/>
              </a:rPr>
              <a:t>专利方案梳理  ·  spec1 代码差异  ·  2026.10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1853A2-9167-4671-B611-10DD9EDF9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124450"/>
            <a:ext cx="781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3A5E"/>
          </a:solidFill>
          <a:ln xmlns:a="http://schemas.openxmlformats.org/drawingml/2006/main" w="9525">
            <a:solidFill>
              <a:srgbClr val="2C3A5E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B1BBE8-34FE-4546-A50E-00E15B65D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39115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1">
                <a:solidFill>
                  <a:srgbClr val="12B8C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12B8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2B8C8"/>
                </a:solidFill>
                <a:latin typeface="Microsoft YaHei"/>
                <a:ea typeface="Microsoft YaHei"/>
                <a:cs typeface="Microsoft YaHei"/>
              </a:rPr>
              <a:t>核心命题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C12F14-CE2A-4A39-A876-6938F7CB3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5314950"/>
            <a:ext cx="800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6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在逻辑验证长度 L 之外，根据目标 NPU 的真实代价动态选择物理草稿宽度 K。</a:t>
            </a:r>
          </a:p>
        </p:txBody>
      </p:sp>
    </p:spTree>
    <p:extLst>
      <p:ext uri="{BB962C8B-B14F-4D97-AF65-F5344CB8AC3E}">
        <p14:creationId xmlns:p14="http://schemas.microsoft.com/office/powerpoint/2010/main" val="36003658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8E3B217-8EE4-4724-BCC3-D86067032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005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75" b="1">
                <a:solidFill>
                  <a:srgbClr val="12B8C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12B8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2B8C8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E754CE-40C0-4E94-8C37-F38107F9B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38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000" b="1">
                <a:solidFill>
                  <a:srgbClr val="0B153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0B15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0B1530"/>
                </a:solidFill>
                <a:latin typeface="Microsoft YaHei"/>
                <a:ea typeface="Microsoft YaHei"/>
                <a:cs typeface="Microsoft YaHei"/>
              </a:rPr>
              <a:t>现有方案：动态调整逻辑验证长度 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BD017E-F53E-4AC9-A425-44956248F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838200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350" b="0">
                <a:solidFill>
                  <a:srgbClr val="6D789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D78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D7890"/>
                </a:solidFill>
                <a:latin typeface="Microsoft YaHei"/>
                <a:ea typeface="Microsoft YaHei"/>
                <a:cs typeface="Microsoft YaHei"/>
              </a:rPr>
              <a:t>置信头可以减少 target 验证量，但 draft 通常仍按 Kmax 完成生成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DC51E4-0988-4837-B124-1A2AD2052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23950"/>
            <a:ext cx="11010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EA"/>
          </a:solidFill>
          <a:ln xmlns:a="http://schemas.openxmlformats.org/drawingml/2006/main" w="9525">
            <a:solidFill>
              <a:srgbClr val="D7DDEA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67FBC1-18D7-48AA-B61A-3CD8699B0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09700"/>
            <a:ext cx="542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00" b="1">
                <a:solidFill>
                  <a:srgbClr val="2E6BE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2E6B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E6BE6"/>
                </a:solidFill>
                <a:latin typeface="Microsoft YaHei"/>
                <a:ea typeface="Microsoft YaHei"/>
                <a:cs typeface="Microsoft YaHei"/>
              </a:rPr>
              <a:t>现有置信头 / Adaptive Verification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4503A6-22C1-4148-AB50-63E8ACD80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52625"/>
            <a:ext cx="16002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EAF0FF"/>
          </a:solidFill>
          <a:ln xmlns:a="http://schemas.openxmlformats.org/drawingml/2006/main" w="9525">
            <a:solidFill>
              <a:srgbClr val="EAF0FF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1E7BB8-4698-4869-90A8-B947295CF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47875"/>
            <a:ext cx="133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00" b="1">
                <a:solidFill>
                  <a:srgbClr val="13213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1321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3213C"/>
                </a:solidFill>
                <a:latin typeface="Microsoft YaHei"/>
                <a:ea typeface="Microsoft YaHei"/>
                <a:cs typeface="Microsoft YaHei"/>
              </a:rPr>
              <a:t>置信头输出</a:t>
            </a:r>
          </a:p>
          <a:p xmlns:a="http://schemas.openxmlformats.org/drawingml/2006/main">
            <a:pPr>
              <a:defRPr sz="1500" b="1">
                <a:solidFill>
                  <a:srgbClr val="1321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3213C"/>
                </a:solidFill>
                <a:latin typeface="Microsoft YaHei"/>
                <a:ea typeface="Microsoft YaHei"/>
                <a:cs typeface="Microsoft YaHei"/>
              </a:rPr>
              <a:t>逐位置概率 q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5D1612A-6AF9-4F62-944A-82BDABA3C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152650"/>
            <a:ext cx="285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550" b="1">
                <a:solidFill>
                  <a:srgbClr val="2E6BE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2E6B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2E6BE6"/>
                </a:solidFill>
                <a:latin typeface="Microsoft YaHei"/>
                <a:ea typeface="Microsoft YaHei"/>
                <a:cs typeface="Microsoft YaHei"/>
              </a:rPr>
              <a:t>›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D282CD2-3AD3-4967-A04E-3667CFCF2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1952625"/>
            <a:ext cx="16002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E5F8FA"/>
          </a:solidFill>
          <a:ln xmlns:a="http://schemas.openxmlformats.org/drawingml/2006/main" w="9525">
            <a:solidFill>
              <a:srgbClr val="E5F8FA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EE4649F-39D0-458C-B3B4-0343B99D8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047875"/>
            <a:ext cx="133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00" b="1">
                <a:solidFill>
                  <a:srgbClr val="13213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1321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3213C"/>
                </a:solidFill>
                <a:latin typeface="Microsoft YaHei"/>
                <a:ea typeface="Microsoft YaHei"/>
                <a:cs typeface="Microsoft YaHei"/>
              </a:rPr>
              <a:t>累计生存概率</a:t>
            </a:r>
          </a:p>
          <a:p xmlns:a="http://schemas.openxmlformats.org/drawingml/2006/main">
            <a:pPr>
              <a:defRPr sz="1500" b="1">
                <a:solidFill>
                  <a:srgbClr val="1321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3213C"/>
                </a:solidFill>
                <a:latin typeface="Microsoft YaHei"/>
                <a:ea typeface="Microsoft YaHei"/>
                <a:cs typeface="Microsoft YaHei"/>
              </a:rPr>
              <a:t>survival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6F99B4F-014A-4278-B861-680DC7AB0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152650"/>
            <a:ext cx="285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550" b="1">
                <a:solidFill>
                  <a:srgbClr val="2E6BE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2E6B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2E6BE6"/>
                </a:solidFill>
                <a:latin typeface="Microsoft YaHei"/>
                <a:ea typeface="Microsoft YaHei"/>
                <a:cs typeface="Microsoft YaHei"/>
              </a:rPr>
              <a:t>›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E8F0B5E-E683-4DE9-9BCF-991217FA8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1952625"/>
            <a:ext cx="16002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E8F6F0"/>
          </a:solidFill>
          <a:ln xmlns:a="http://schemas.openxmlformats.org/drawingml/2006/main" w="9525">
            <a:solidFill>
              <a:srgbClr val="E8F6F0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677546B-27CB-47E3-8D16-B5903AF6C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047875"/>
            <a:ext cx="133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00" b="1">
                <a:solidFill>
                  <a:srgbClr val="13213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1321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3213C"/>
                </a:solidFill>
                <a:latin typeface="Microsoft YaHei"/>
                <a:ea typeface="Microsoft YaHei"/>
                <a:cs typeface="Microsoft YaHei"/>
              </a:rPr>
              <a:t>选择逻辑验证长度 L</a:t>
            </a:r>
          </a:p>
          <a:p xmlns:a="http://schemas.openxmlformats.org/drawingml/2006/main">
            <a:pPr>
              <a:defRPr sz="1500" b="1">
                <a:solidFill>
                  <a:srgbClr val="1321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3213C"/>
                </a:solidFill>
                <a:latin typeface="Microsoft YaHei"/>
                <a:ea typeface="Microsoft YaHei"/>
                <a:cs typeface="Microsoft YaHei"/>
              </a:rPr>
              <a:t>减少 target verify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E3859CE-13A4-4D65-8309-3BE02D2EB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00400"/>
            <a:ext cx="54483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1E6"/>
          </a:solidFill>
          <a:ln xmlns:a="http://schemas.openxmlformats.org/drawingml/2006/main" w="9525">
            <a:solidFill>
              <a:srgbClr val="F28B3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75CF56F-1EEF-4295-9C73-BF6E1ABB7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5280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650" b="1">
                <a:solidFill>
                  <a:srgbClr val="F28B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F28B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28B36"/>
                </a:solidFill>
                <a:latin typeface="Microsoft YaHei"/>
                <a:ea typeface="Microsoft YaHei"/>
                <a:cs typeface="Microsoft YaHei"/>
              </a:rPr>
              <a:t>物理草稿宽度仍为 Kmax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311515F-CE35-4D11-8677-CFB739BE6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67125"/>
            <a:ext cx="49339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350" b="0">
                <a:solidFill>
                  <a:srgbClr val="13213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1321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3213C"/>
                </a:solidFill>
                <a:latin typeface="Microsoft YaHei"/>
                <a:ea typeface="Microsoft YaHei"/>
                <a:cs typeface="Microsoft YaHei"/>
              </a:rPr>
              <a:t>即使只验证 L=2，draft 仍可能先生成 K=5，未使用后缀已经消耗 NPU 计算与图执行时间。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9449AEC-9289-4D5E-B8CD-6BEA3B6E7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53390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75" b="1">
                <a:solidFill>
                  <a:srgbClr val="6D789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6D78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6D7890"/>
                </a:solidFill>
                <a:latin typeface="Microsoft YaHei"/>
                <a:ea typeface="Microsoft YaHei"/>
                <a:cs typeface="Microsoft YaHei"/>
              </a:rPr>
              <a:t>Kmax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AF50F99-2E65-44F2-88B7-658077493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476750"/>
            <a:ext cx="5143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8C6B"/>
          </a:solidFill>
          <a:ln xmlns:a="http://schemas.openxmlformats.org/drawingml/2006/main" w="9525">
            <a:solidFill>
              <a:srgbClr val="278C6B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86A098B-3FE5-431D-8473-C64A444C3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533900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6574DEB-2241-4DF1-8CCD-2218F386C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4476750"/>
            <a:ext cx="5143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8C6B"/>
          </a:solidFill>
          <a:ln xmlns:a="http://schemas.openxmlformats.org/drawingml/2006/main" w="9525">
            <a:solidFill>
              <a:srgbClr val="278C6B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A64E104-5F8E-43B4-B8CA-D2015A323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4533900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ED90C5F-50B3-44D0-B6DA-BAD6E13DE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4476750"/>
            <a:ext cx="5143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B18C"/>
          </a:solidFill>
          <a:ln xmlns:a="http://schemas.openxmlformats.org/drawingml/2006/main" w="9525">
            <a:solidFill>
              <a:srgbClr val="D9B18C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A09D806-D391-4A9F-9490-471D02595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4533900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7994CA1-C41E-4245-9C69-54B60D21E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4476750"/>
            <a:ext cx="5143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B18C"/>
          </a:solidFill>
          <a:ln xmlns:a="http://schemas.openxmlformats.org/drawingml/2006/main" w="9525">
            <a:solidFill>
              <a:srgbClr val="D9B18C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0F4A5ED-7B99-49DE-9980-6A9E40BB8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4533900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9221EA6-FF22-46D7-9138-F93020A3D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476750"/>
            <a:ext cx="5143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B18C"/>
          </a:solidFill>
          <a:ln xmlns:a="http://schemas.openxmlformats.org/drawingml/2006/main" w="9525">
            <a:solidFill>
              <a:srgbClr val="D9B18C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3B87F5A-46B6-4E54-96E5-340BE12A8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533900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D138CE9-7CA4-452B-B176-380506BB2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943475"/>
            <a:ext cx="133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125" b="0">
                <a:solidFill>
                  <a:srgbClr val="278C6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278C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278C6B"/>
                </a:solidFill>
                <a:latin typeface="Microsoft YaHei"/>
                <a:ea typeface="Microsoft YaHei"/>
                <a:cs typeface="Microsoft YaHei"/>
              </a:rPr>
              <a:t>实际验证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BE002F9-9885-44D2-8B9F-EB42DF751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4943475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125" b="0">
                <a:solidFill>
                  <a:srgbClr val="F28B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F28B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F28B36"/>
                </a:solidFill>
                <a:latin typeface="Microsoft YaHei"/>
                <a:ea typeface="Microsoft YaHei"/>
                <a:cs typeface="Microsoft YaHei"/>
              </a:rPr>
              <a:t>已生成但未使用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4FD3503-0F56-4255-B1D2-A0684EE5B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140970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00" b="1">
                <a:solidFill>
                  <a:srgbClr val="7B61D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7B61D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7B61D1"/>
                </a:solidFill>
                <a:latin typeface="Microsoft YaHei"/>
                <a:ea typeface="Microsoft YaHei"/>
                <a:cs typeface="Microsoft YaHei"/>
              </a:rPr>
              <a:t>现有方案的主要局限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2A1B83E-44C6-453E-978B-FFB43C138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019300"/>
            <a:ext cx="66675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B36"/>
          </a:solidFill>
          <a:ln xmlns:a="http://schemas.openxmlformats.org/drawingml/2006/main" w="9525">
            <a:solidFill>
              <a:srgbClr val="F28B36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ABE95E4-B84A-414A-B3FB-B2ED5A22C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057400"/>
            <a:ext cx="1714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75" b="1">
                <a:solidFill>
                  <a:srgbClr val="F28B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F28B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28B36"/>
                </a:solidFill>
                <a:latin typeface="Microsoft YaHei"/>
                <a:ea typeface="Microsoft YaHei"/>
                <a:cs typeface="Microsoft YaHei"/>
              </a:rPr>
              <a:t>计算错配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269A248-1A8E-4A49-816B-611E2DFA7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362200"/>
            <a:ext cx="41719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350" b="0">
                <a:solidFill>
                  <a:srgbClr val="13213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1321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3213C"/>
                </a:solidFill>
                <a:latin typeface="Microsoft YaHei"/>
                <a:ea typeface="Microsoft YaHei"/>
                <a:cs typeface="Microsoft YaHei"/>
              </a:rPr>
              <a:t>逻辑 L 变短不等于物理 K 变短，draft 后缀仍被计算。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05485F2-CD7A-4174-A9D4-786197BBB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124200"/>
            <a:ext cx="66675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4B50"/>
          </a:solidFill>
          <a:ln xmlns:a="http://schemas.openxmlformats.org/drawingml/2006/main" w="9525">
            <a:solidFill>
              <a:srgbClr val="C74B50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B977FA7-3E34-4D6B-8EFC-96FAB6A2F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3162300"/>
            <a:ext cx="1714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75" b="1">
                <a:solidFill>
                  <a:srgbClr val="C74B5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C74B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C74B50"/>
                </a:solidFill>
                <a:latin typeface="Microsoft YaHei"/>
                <a:ea typeface="Microsoft YaHei"/>
                <a:cs typeface="Microsoft YaHei"/>
              </a:rPr>
              <a:t>硬件错配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CD4D064-E42E-4D0C-A56E-38A433ABD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3467100"/>
            <a:ext cx="41719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350" b="0">
                <a:solidFill>
                  <a:srgbClr val="13213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1321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3213C"/>
                </a:solidFill>
                <a:latin typeface="Microsoft YaHei"/>
                <a:ea typeface="Microsoft YaHei"/>
                <a:cs typeface="Microsoft YaHei"/>
              </a:rPr>
              <a:t>不同 K 对应的图和 kernel 延迟可能非单调，K 更小未必更快。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79E1F41-9529-4B70-ADAC-015EE67E6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4229100"/>
            <a:ext cx="66675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61D1"/>
          </a:solidFill>
          <a:ln xmlns:a="http://schemas.openxmlformats.org/drawingml/2006/main" w="9525">
            <a:solidFill>
              <a:srgbClr val="7B61D1"/>
            </a:solidFill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3C642CB-80D1-4FE0-B86C-DF672F871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4267200"/>
            <a:ext cx="1714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75" b="1">
                <a:solidFill>
                  <a:srgbClr val="7B61D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7B61D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7B61D1"/>
                </a:solidFill>
                <a:latin typeface="Microsoft YaHei"/>
                <a:ea typeface="Microsoft YaHei"/>
                <a:cs typeface="Microsoft YaHei"/>
              </a:rPr>
              <a:t>负载错配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34BE981-ADE3-4694-A683-171793C90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4572000"/>
            <a:ext cx="41719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350" b="0">
                <a:solidFill>
                  <a:srgbClr val="13213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1321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3213C"/>
                </a:solidFill>
                <a:latin typeface="Microsoft YaHei"/>
                <a:ea typeface="Microsoft YaHei"/>
                <a:cs typeface="Microsoft YaHei"/>
              </a:rPr>
              <a:t>RL rollout 的 batch 会随 EOS 缩小，同一 K 无法覆盖各批量档位。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A35AAED-4F11-4914-8831-D4B459ABF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5429250"/>
            <a:ext cx="45339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0B1530"/>
          </a:solidFill>
          <a:ln xmlns:a="http://schemas.openxmlformats.org/drawingml/2006/main" w="9525">
            <a:solidFill>
              <a:srgbClr val="0B1530"/>
            </a:solidFill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A120CAA-B169-4060-9417-63F07DB0D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560070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核心局限：L 已缩短，物理执行量却未同步缩减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8DCB260-9468-41A0-B26F-581854E65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96050"/>
            <a:ext cx="990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900" b="0">
                <a:solidFill>
                  <a:srgbClr val="6D789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900" b="0">
                <a:solidFill>
                  <a:srgbClr val="6D78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D7890"/>
                </a:solidFill>
                <a:latin typeface="Microsoft YaHei"/>
                <a:ea typeface="Microsoft YaHei"/>
                <a:cs typeface="Microsoft YaHei"/>
              </a:rPr>
              <a:t>代码基线  spec1 @ 5403af1b8    对照基线  0bf84a84e / 上游 DSpark Adaptive Verification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A10E986-84EE-4D36-A702-7ACFFEB9E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1028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900" b="1">
                <a:solidFill>
                  <a:srgbClr val="12B8C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900" b="1">
                <a:solidFill>
                  <a:srgbClr val="12B8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12B8C8"/>
                </a:solidFill>
                <a:latin typeface="Microsoft YaHei"/>
                <a:ea typeface="Microsoft YaHei"/>
                <a:cs typeface="Microsoft YaHei"/>
              </a:rPr>
              <a:t>专利讨论稿</a:t>
            </a:r>
          </a:p>
        </p:txBody>
      </p:sp>
    </p:spTree>
    <p:extLst>
      <p:ext uri="{BB962C8B-B14F-4D97-AF65-F5344CB8AC3E}">
        <p14:creationId xmlns:p14="http://schemas.microsoft.com/office/powerpoint/2010/main" val="95651664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302AC6C-D272-42D6-B172-FA524BB0E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005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75" b="1">
                <a:solidFill>
                  <a:srgbClr val="12B8C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12B8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2B8C8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BC2D90-E79A-498C-8482-D9EF49715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38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000" b="1">
                <a:solidFill>
                  <a:srgbClr val="0B153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0B15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0B1530"/>
                </a:solidFill>
                <a:latin typeface="Microsoft YaHei"/>
                <a:ea typeface="Microsoft YaHei"/>
                <a:cs typeface="Microsoft YaHei"/>
              </a:rPr>
              <a:t>新方案：在 L 之外动态选择物理草稿宽度 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8B614E-47E9-40DA-A45F-5E7E8AE38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838200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350" b="0">
                <a:solidFill>
                  <a:srgbClr val="6D789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D78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D7890"/>
                </a:solidFill>
                <a:latin typeface="Microsoft YaHei"/>
                <a:ea typeface="Microsoft YaHei"/>
                <a:cs typeface="Microsoft YaHei"/>
              </a:rPr>
              <a:t>启动期采集 batch × K 硬件代价，运行期选择预期有效吞吐更高的 K*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351F3A-634D-4BFD-B3DD-04DF0D063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23950"/>
            <a:ext cx="11010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EA"/>
          </a:solidFill>
          <a:ln xmlns:a="http://schemas.openxmlformats.org/drawingml/2006/main" w="9525">
            <a:solidFill>
              <a:srgbClr val="D7DDEA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B002F7-9BE4-4E97-A868-8ABA17430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09700"/>
            <a:ext cx="495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00" b="1">
                <a:solidFill>
                  <a:srgbClr val="7B61D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7B61D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7B61D1"/>
                </a:solidFill>
                <a:latin typeface="Microsoft YaHei"/>
                <a:ea typeface="Microsoft YaHei"/>
                <a:cs typeface="Microsoft YaHei"/>
              </a:rPr>
              <a:t>启动期：建立可复用的硬件证据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D5165F-AAF1-4D14-A1AD-C8709E959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85950"/>
            <a:ext cx="17145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1EDFF"/>
          </a:solidFill>
          <a:ln xmlns:a="http://schemas.openxmlformats.org/drawingml/2006/main" w="9525">
            <a:solidFill>
              <a:srgbClr val="F1EDFF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B6AEBE-C91B-4E08-A6C9-8C9EE4D52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81200"/>
            <a:ext cx="1447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00" b="1">
                <a:solidFill>
                  <a:srgbClr val="7B61D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7B61D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7B61D1"/>
                </a:solidFill>
                <a:latin typeface="Microsoft YaHei"/>
                <a:ea typeface="Microsoft YaHei"/>
                <a:cs typeface="Microsoft YaHei"/>
              </a:rPr>
              <a:t>候选 K</a:t>
            </a:r>
          </a:p>
          <a:p xmlns:a="http://schemas.openxmlformats.org/drawingml/2006/main">
            <a:pPr>
              <a:defRPr sz="1500" b="1">
                <a:solidFill>
                  <a:srgbClr val="7B61D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7B61D1"/>
                </a:solidFill>
                <a:latin typeface="Microsoft YaHei"/>
                <a:ea typeface="Microsoft YaHei"/>
                <a:cs typeface="Microsoft YaHei"/>
              </a:rPr>
              <a:t>min_k … Kmax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5B87E6-83D3-4C1C-BE89-85779DB15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028825"/>
            <a:ext cx="285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550" b="1">
                <a:solidFill>
                  <a:srgbClr val="7B61D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7B61D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7B61D1"/>
                </a:solidFill>
                <a:latin typeface="Microsoft YaHei"/>
                <a:ea typeface="Microsoft YaHei"/>
                <a:cs typeface="Microsoft YaHei"/>
              </a:rPr>
              <a:t>›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4A0D221-C18B-440C-AE90-36B9F2611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1885950"/>
            <a:ext cx="18097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EAF0FF"/>
          </a:solidFill>
          <a:ln xmlns:a="http://schemas.openxmlformats.org/drawingml/2006/main" w="9525">
            <a:solidFill>
              <a:srgbClr val="EAF0FF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8C81803-C4F0-4DE0-B794-F82A50921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1981200"/>
            <a:ext cx="15430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00" b="1">
                <a:solidFill>
                  <a:srgbClr val="2E6BE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2E6B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E6BE6"/>
                </a:solidFill>
                <a:latin typeface="Microsoft YaHei"/>
                <a:ea typeface="Microsoft YaHei"/>
                <a:cs typeface="Microsoft YaHei"/>
              </a:rPr>
              <a:t>逐 batch 档位</a:t>
            </a:r>
          </a:p>
          <a:p xmlns:a="http://schemas.openxmlformats.org/drawingml/2006/main">
            <a:pPr>
              <a:defRPr sz="1500" b="1">
                <a:solidFill>
                  <a:srgbClr val="2E6B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E6BE6"/>
                </a:solidFill>
                <a:latin typeface="Microsoft YaHei"/>
                <a:ea typeface="Microsoft YaHei"/>
                <a:cs typeface="Microsoft YaHei"/>
              </a:rPr>
              <a:t>回放 draft 图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D84BF9D-A6D3-4820-9FFE-048537B1A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028825"/>
            <a:ext cx="285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550" b="1">
                <a:solidFill>
                  <a:srgbClr val="7B61D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7B61D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7B61D1"/>
                </a:solidFill>
                <a:latin typeface="Microsoft YaHei"/>
                <a:ea typeface="Microsoft YaHei"/>
                <a:cs typeface="Microsoft YaHei"/>
              </a:rPr>
              <a:t>›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61CE22E-5AE8-4319-9DED-FF061E1CB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1885950"/>
            <a:ext cx="20002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E5F8FA"/>
          </a:solidFill>
          <a:ln xmlns:a="http://schemas.openxmlformats.org/drawingml/2006/main" w="9525">
            <a:solidFill>
              <a:srgbClr val="E5F8FA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412EA2A-ABCE-43B8-B603-B166D9412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1981200"/>
            <a:ext cx="17335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00" b="1">
                <a:solidFill>
                  <a:srgbClr val="12B8C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12B8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2B8C8"/>
                </a:solidFill>
                <a:latin typeface="Microsoft YaHei"/>
                <a:ea typeface="Microsoft YaHei"/>
                <a:cs typeface="Microsoft YaHei"/>
              </a:rPr>
              <a:t>记录 drafter_ms</a:t>
            </a:r>
          </a:p>
          <a:p xmlns:a="http://schemas.openxmlformats.org/drawingml/2006/main">
            <a:pPr>
              <a:defRPr sz="1500" b="1">
                <a:solidFill>
                  <a:srgbClr val="12B8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2B8C8"/>
                </a:solidFill>
                <a:latin typeface="Microsoft YaHei"/>
                <a:ea typeface="Microsoft YaHei"/>
                <a:cs typeface="Microsoft YaHei"/>
              </a:rPr>
              <a:t>TP 取最慢 rank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A37772B-4A50-4A21-958C-3D336EDDA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028825"/>
            <a:ext cx="285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550" b="1">
                <a:solidFill>
                  <a:srgbClr val="7B61D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7B61D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7B61D1"/>
                </a:solidFill>
                <a:latin typeface="Microsoft YaHei"/>
                <a:ea typeface="Microsoft YaHei"/>
                <a:cs typeface="Microsoft YaHei"/>
              </a:rPr>
              <a:t>›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E2858AF-0F13-4C6A-83FA-EECF3E750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1885950"/>
            <a:ext cx="16192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E8F6F0"/>
          </a:solidFill>
          <a:ln xmlns:a="http://schemas.openxmlformats.org/drawingml/2006/main" w="9525">
            <a:solidFill>
              <a:srgbClr val="E8F6F0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C69428F-F8FE-4E8F-8922-EFF88BC56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981200"/>
            <a:ext cx="13525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00" b="1">
                <a:solidFill>
                  <a:srgbClr val="278C6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278C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78C6B"/>
                </a:solidFill>
                <a:latin typeface="Microsoft YaHei"/>
                <a:ea typeface="Microsoft YaHei"/>
                <a:cs typeface="Microsoft YaHei"/>
              </a:rPr>
              <a:t>K × batch</a:t>
            </a:r>
          </a:p>
          <a:p xmlns:a="http://schemas.openxmlformats.org/drawingml/2006/main">
            <a:pPr>
              <a:defRPr sz="1500" b="1">
                <a:solidFill>
                  <a:srgbClr val="278C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78C6B"/>
                </a:solidFill>
                <a:latin typeface="Microsoft YaHei"/>
                <a:ea typeface="Microsoft YaHei"/>
                <a:cs typeface="Microsoft YaHei"/>
              </a:rPr>
              <a:t>成本表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10009AE-FC45-4AFF-9DD9-91FAC4E5B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1914525"/>
            <a:ext cx="2190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75" b="0">
                <a:solidFill>
                  <a:srgbClr val="44516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445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44516B"/>
                </a:solidFill>
                <a:latin typeface="Microsoft YaHei"/>
                <a:ea typeface="Microsoft YaHei"/>
                <a:cs typeface="Microsoft YaHei"/>
              </a:rPr>
              <a:t>保留 Kmax 完整 profile；低 K 对 1/2/4/8…批量桶稀疏采样；超出实测覆盖不外推。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A9078AD-7E68-496E-98BA-A7AB88549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43225"/>
            <a:ext cx="108013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EA"/>
          </a:solidFill>
          <a:ln xmlns:a="http://schemas.openxmlformats.org/drawingml/2006/main" w="9525">
            <a:solidFill>
              <a:srgbClr val="D7DDEA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C571CF8-DBE6-45A7-8B7F-4618E2DE6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181350"/>
            <a:ext cx="495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00" b="1">
                <a:solidFill>
                  <a:srgbClr val="2E6BE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2E6B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E6BE6"/>
                </a:solidFill>
                <a:latin typeface="Microsoft YaHei"/>
                <a:ea typeface="Microsoft YaHei"/>
                <a:cs typeface="Microsoft YaHei"/>
              </a:rPr>
              <a:t>运行期：联合选择物理宽度 K*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C805B80-5D69-4903-AB71-38E4F9BAE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714750"/>
            <a:ext cx="14287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AF0FF"/>
          </a:solidFill>
          <a:ln xmlns:a="http://schemas.openxmlformats.org/drawingml/2006/main" w="9525">
            <a:solidFill>
              <a:srgbClr val="EAF0FF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05E5E0C-C2A0-4972-9E93-838F2C994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810000"/>
            <a:ext cx="11620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425" b="1">
                <a:solidFill>
                  <a:srgbClr val="2E6BE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2E6B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2E6BE6"/>
                </a:solidFill>
                <a:latin typeface="Microsoft YaHei"/>
                <a:ea typeface="Microsoft YaHei"/>
                <a:cs typeface="Microsoft YaHei"/>
              </a:rPr>
              <a:t>置信头</a:t>
            </a:r>
          </a:p>
          <a:p xmlns:a="http://schemas.openxmlformats.org/drawingml/2006/main">
            <a:pPr>
              <a:defRPr sz="1425" b="1">
                <a:solidFill>
                  <a:srgbClr val="2E6B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2E6BE6"/>
                </a:solidFill>
                <a:latin typeface="Microsoft YaHei"/>
                <a:ea typeface="Microsoft YaHei"/>
                <a:cs typeface="Microsoft YaHei"/>
              </a:rPr>
              <a:t>survival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EA61FE2-277E-4D4F-A21F-27CD79627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876675"/>
            <a:ext cx="228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950" b="1">
                <a:solidFill>
                  <a:srgbClr val="6D789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6D78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6D7890"/>
                </a:solidFill>
                <a:latin typeface="Microsoft YaHei"/>
                <a:ea typeface="Microsoft YaHei"/>
                <a:cs typeface="Microsoft YaHei"/>
              </a:rPr>
              <a:t>+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5803E8B-CBC6-463F-85BF-47E08D94C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3714750"/>
            <a:ext cx="16192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5F8FA"/>
          </a:solidFill>
          <a:ln xmlns:a="http://schemas.openxmlformats.org/drawingml/2006/main" w="9525">
            <a:solidFill>
              <a:srgbClr val="E5F8FA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A3C784B-69B7-4F23-8B0F-9FE07774D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3810000"/>
            <a:ext cx="13525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425" b="1">
                <a:solidFill>
                  <a:srgbClr val="12B8C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12B8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2B8C8"/>
                </a:solidFill>
                <a:latin typeface="Microsoft YaHei"/>
                <a:ea typeface="Microsoft YaHei"/>
                <a:cs typeface="Microsoft YaHei"/>
              </a:rPr>
              <a:t>verify 代价</a:t>
            </a:r>
          </a:p>
          <a:p xmlns:a="http://schemas.openxmlformats.org/drawingml/2006/main">
            <a:pPr>
              <a:defRPr sz="1425" b="1">
                <a:solidFill>
                  <a:srgbClr val="12B8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2B8C8"/>
                </a:solidFill>
                <a:latin typeface="Microsoft YaHei"/>
                <a:ea typeface="Microsoft YaHei"/>
                <a:cs typeface="Microsoft YaHei"/>
              </a:rPr>
              <a:t>上游 AV 曲线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6CCAAC6-6B8E-4504-871A-9D6BA0937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876675"/>
            <a:ext cx="228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950" b="1">
                <a:solidFill>
                  <a:srgbClr val="6D789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6D78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6D7890"/>
                </a:solidFill>
                <a:latin typeface="Microsoft YaHei"/>
                <a:ea typeface="Microsoft YaHei"/>
                <a:cs typeface="Microsoft YaHei"/>
              </a:rPr>
              <a:t>+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C7B25E9-98C0-41E0-BAD5-8ABA704ED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714750"/>
            <a:ext cx="16192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1EDFF"/>
          </a:solidFill>
          <a:ln xmlns:a="http://schemas.openxmlformats.org/drawingml/2006/main" w="9525">
            <a:solidFill>
              <a:srgbClr val="F1EDFF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DA227DD-E3C7-4F85-ADB5-4BB8BC0B5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810000"/>
            <a:ext cx="13525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425" b="1">
                <a:solidFill>
                  <a:srgbClr val="7B61D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7B61D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7B61D1"/>
                </a:solidFill>
                <a:latin typeface="Microsoft YaHei"/>
                <a:ea typeface="Microsoft YaHei"/>
                <a:cs typeface="Microsoft YaHei"/>
              </a:rPr>
              <a:t>draft 代价</a:t>
            </a:r>
          </a:p>
          <a:p xmlns:a="http://schemas.openxmlformats.org/drawingml/2006/main">
            <a:pPr>
              <a:defRPr sz="1425" b="1">
                <a:solidFill>
                  <a:srgbClr val="7B61D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7B61D1"/>
                </a:solidFill>
                <a:latin typeface="Microsoft YaHei"/>
                <a:ea typeface="Microsoft YaHei"/>
                <a:cs typeface="Microsoft YaHei"/>
              </a:rPr>
              <a:t>Tdraft(B,K)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62EA209-214F-4043-88D4-F51AE4D04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857625"/>
            <a:ext cx="285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550" b="1">
                <a:solidFill>
                  <a:srgbClr val="2E6BE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2E6B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2E6BE6"/>
                </a:solidFill>
                <a:latin typeface="Microsoft YaHei"/>
                <a:ea typeface="Microsoft YaHei"/>
                <a:cs typeface="Microsoft YaHei"/>
              </a:rPr>
              <a:t>›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6479580-7F1C-418A-BF6C-50769BD34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714750"/>
            <a:ext cx="18288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1E6"/>
          </a:solidFill>
          <a:ln xmlns:a="http://schemas.openxmlformats.org/drawingml/2006/main" w="9525">
            <a:solidFill>
              <a:srgbClr val="FFF1E6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2B50308-896C-4B6A-A42E-B64D17412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810000"/>
            <a:ext cx="15621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425" b="1">
                <a:solidFill>
                  <a:srgbClr val="F28B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F28B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28B36"/>
                </a:solidFill>
                <a:latin typeface="Microsoft YaHei"/>
                <a:ea typeface="Microsoft YaHei"/>
                <a:cs typeface="Microsoft YaHei"/>
              </a:rPr>
              <a:t>选择 K*</a:t>
            </a:r>
          </a:p>
          <a:p xmlns:a="http://schemas.openxmlformats.org/drawingml/2006/main">
            <a:pPr>
              <a:defRPr sz="1425" b="1">
                <a:solidFill>
                  <a:srgbClr val="F28B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28B36"/>
                </a:solidFill>
                <a:latin typeface="Microsoft YaHei"/>
                <a:ea typeface="Microsoft YaHei"/>
                <a:cs typeface="Microsoft YaHei"/>
              </a:rPr>
              <a:t>最大预期 goodput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DD0BC78-5810-4F41-AA12-AB522121A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857625"/>
            <a:ext cx="285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550" b="1">
                <a:solidFill>
                  <a:srgbClr val="2E6BE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2E6B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2E6BE6"/>
                </a:solidFill>
                <a:latin typeface="Microsoft YaHei"/>
                <a:ea typeface="Microsoft YaHei"/>
                <a:cs typeface="Microsoft YaHei"/>
              </a:rPr>
              <a:t>›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186F079-044D-47DF-8E65-B011D1C9C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714750"/>
            <a:ext cx="22479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8F6F0"/>
          </a:solidFill>
          <a:ln xmlns:a="http://schemas.openxmlformats.org/drawingml/2006/main" w="9525">
            <a:solidFill>
              <a:srgbClr val="E8F6F0"/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F7F663E-D789-4CAA-9868-D9DEE7764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3810000"/>
            <a:ext cx="1981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425" b="1">
                <a:solidFill>
                  <a:srgbClr val="278C6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278C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278C6B"/>
                </a:solidFill>
                <a:latin typeface="Microsoft YaHei"/>
                <a:ea typeface="Microsoft YaHei"/>
                <a:cs typeface="Microsoft YaHei"/>
              </a:rPr>
              <a:t>scheduler</a:t>
            </a:r>
          </a:p>
          <a:p xmlns:a="http://schemas.openxmlformats.org/drawingml/2006/main">
            <a:pPr>
              <a:defRPr sz="1425" b="1">
                <a:solidFill>
                  <a:srgbClr val="278C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278C6B"/>
                </a:solidFill>
                <a:latin typeface="Microsoft YaHei"/>
                <a:ea typeface="Microsoft YaHei"/>
                <a:cs typeface="Microsoft YaHei"/>
              </a:rPr>
              <a:t>按 batch bucket 生效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C4D987D-795E-4AFF-BA47-506F6EA32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819650"/>
            <a:ext cx="1059180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DEA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039A1B2-37E7-44B1-AF26-6C451FE2F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124450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650" b="1">
                <a:solidFill>
                  <a:srgbClr val="0B153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0B15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530"/>
                </a:solidFill>
                <a:latin typeface="Microsoft YaHei"/>
                <a:ea typeface="Microsoft YaHei"/>
                <a:cs typeface="Microsoft YaHei"/>
              </a:rPr>
              <a:t>K* = arg max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51D2F52-A579-45B7-A214-ED7D3ED1C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895850"/>
            <a:ext cx="228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425" b="1">
                <a:solidFill>
                  <a:srgbClr val="2E6BE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2E6B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2E6BE6"/>
                </a:solidFill>
                <a:latin typeface="Microsoft YaHei"/>
                <a:ea typeface="Microsoft YaHei"/>
                <a:cs typeface="Microsoft YaHei"/>
              </a:rPr>
              <a:t>预期接受 token 数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EEC86D8-F791-4E91-9EA1-2631510BF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5210175"/>
            <a:ext cx="2552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6BE6"/>
          </a:solidFill>
          <a:ln xmlns:a="http://schemas.openxmlformats.org/drawingml/2006/main" w="9525">
            <a:solidFill>
              <a:srgbClr val="2E6BE6"/>
            </a:solidFill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49407C6-7F70-4CD5-912A-FE8F0FA4A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529590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425" b="0">
                <a:solidFill>
                  <a:srgbClr val="13213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1321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3213C"/>
                </a:solidFill>
                <a:latin typeface="Microsoft YaHei"/>
                <a:ea typeface="Microsoft YaHei"/>
                <a:cs typeface="Microsoft YaHei"/>
              </a:rPr>
              <a:t>Tdraft(B,K) + Tverify(B,L)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693D3E8-7F57-452F-9BA4-2C26ECE7D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4981575"/>
            <a:ext cx="5048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350" b="0">
                <a:solidFill>
                  <a:srgbClr val="44516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445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4516B"/>
                </a:solidFill>
                <a:latin typeface="Microsoft YaHei"/>
                <a:ea typeface="Microsoft YaHei"/>
                <a:cs typeface="Microsoft YaHei"/>
              </a:rPr>
              <a:t>每桶首步评分，此后每 128 步更新；控制器逐步执行滞回、驻留、跨桶保护和周期 full-K 探测。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9ACA262-9D3C-41B8-B1DE-851EFB0AB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96050"/>
            <a:ext cx="990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900" b="0">
                <a:solidFill>
                  <a:srgbClr val="6D789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900" b="0">
                <a:solidFill>
                  <a:srgbClr val="6D78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D7890"/>
                </a:solidFill>
                <a:latin typeface="Microsoft YaHei"/>
                <a:ea typeface="Microsoft YaHei"/>
                <a:cs typeface="Microsoft YaHei"/>
              </a:rPr>
              <a:t>代码基线  spec1 @ 5403af1b8    对照基线  0bf84a84e / 上游 DSpark Adaptive Verification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7D5E2E9-38C8-40BA-8D7A-77EFF0C71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1028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900" b="1">
                <a:solidFill>
                  <a:srgbClr val="12B8C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900" b="1">
                <a:solidFill>
                  <a:srgbClr val="12B8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12B8C8"/>
                </a:solidFill>
                <a:latin typeface="Microsoft YaHei"/>
                <a:ea typeface="Microsoft YaHei"/>
                <a:cs typeface="Microsoft YaHei"/>
              </a:rPr>
              <a:t>专利讨论稿</a:t>
            </a:r>
          </a:p>
        </p:txBody>
      </p:sp>
    </p:spTree>
    <p:extLst>
      <p:ext uri="{BB962C8B-B14F-4D97-AF65-F5344CB8AC3E}">
        <p14:creationId xmlns:p14="http://schemas.microsoft.com/office/powerpoint/2010/main" val="113685116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B65538C-5E48-40E5-B112-B6D12D69A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005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75" b="1">
                <a:solidFill>
                  <a:srgbClr val="12B8C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12B8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2B8C8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221596-B81A-4237-AED1-DBDD808F3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38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000" b="1">
                <a:solidFill>
                  <a:srgbClr val="0B153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0B15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0B1530"/>
                </a:solidFill>
                <a:latin typeface="Microsoft YaHei"/>
                <a:ea typeface="Microsoft YaHei"/>
                <a:cs typeface="Microsoft YaHei"/>
              </a:rPr>
              <a:t>现有方案与新方案的差异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3ED5EE-C84D-4564-B481-4E8105691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838200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350" b="0">
                <a:solidFill>
                  <a:srgbClr val="6D789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D78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D7890"/>
                </a:solidFill>
                <a:latin typeface="Microsoft YaHei"/>
                <a:ea typeface="Microsoft YaHei"/>
                <a:cs typeface="Microsoft YaHei"/>
              </a:rPr>
              <a:t>新方案保留置信头，并把逻辑预算进一步传递到物理生成和底层执行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9122BB-BDA9-4C23-9C35-9FD8CC156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23950"/>
            <a:ext cx="11010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EA"/>
          </a:solidFill>
          <a:ln xmlns:a="http://schemas.openxmlformats.org/drawingml/2006/main" w="9525">
            <a:solidFill>
              <a:srgbClr val="D7DDEA"/>
            </a:solidFill>
          </a:ln>
        </p:spPr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3D0032-5930-4336-998B-BB6156E4D5D4}"/>
              </a:ext>
            </a:extLst>
          </p:cNvPr>
          <p:cNvGraphicFramePr/>
          <p:nvPr/>
        </p:nvGraphicFramePr>
        <p:xfrm>
          <a:off xmlns:a="http://schemas.openxmlformats.org/drawingml/2006/main" x="704850" y="1447800"/>
          <a:ext xmlns:a="http://schemas.openxmlformats.org/drawingml/2006/main" cx="10782300" cy="40386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952625"/>
                <a:gridCol w="3924300"/>
                <a:gridCol w="4905375"/>
              </a:tblGrid>
              <a:tr h="67310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比较维度</a:t>
                      </a:r>
                    </a:p>
                  </a:txBody>
                  <a:tcPr marL="114300" marR="114300" marT="76200" marB="76200">
                    <a:lnL w="9525">
                      <a:solidFill>
                        <a:srgbClr val="D7DDEA"/>
                      </a:solidFill>
                      <a:prstDash val="solid"/>
                    </a:lnL>
                    <a:lnR w="9525">
                      <a:solidFill>
                        <a:srgbClr val="D7DDEA"/>
                      </a:solidFill>
                      <a:prstDash val="solid"/>
                    </a:lnR>
                    <a:lnT w="9525">
                      <a:solidFill>
                        <a:srgbClr val="D7DDEA"/>
                      </a:solidFill>
                      <a:prstDash val="solid"/>
                    </a:lnT>
                    <a:lnB w="9525">
                      <a:solidFill>
                        <a:srgbClr val="D7DDEA"/>
                      </a:solidFill>
                      <a:prstDash val="solid"/>
                    </a:lnB>
                    <a:solidFill>
                      <a:srgbClr val="0B15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现有置信头 / Adaptive Verification</a:t>
                      </a:r>
                    </a:p>
                  </a:txBody>
                  <a:tcPr marL="114300" marR="114300" marT="76200" marB="76200">
                    <a:lnR w="9525">
                      <a:solidFill>
                        <a:srgbClr val="D7DDEA"/>
                      </a:solidFill>
                      <a:prstDash val="solid"/>
                    </a:lnR>
                    <a:lnT w="9525">
                      <a:solidFill>
                        <a:srgbClr val="D7DDEA"/>
                      </a:solidFill>
                      <a:prstDash val="solid"/>
                    </a:lnT>
                    <a:lnB w="9525">
                      <a:solidFill>
                        <a:srgbClr val="D7DDEA"/>
                      </a:solidFill>
                      <a:prstDash val="solid"/>
                    </a:lnB>
                    <a:solidFill>
                      <a:srgbClr val="0B15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spec1 新增功能</a:t>
                      </a:r>
                    </a:p>
                  </a:txBody>
                  <a:tcPr marL="114300" marR="114300" marT="76200" marB="76200">
                    <a:lnR w="9525">
                      <a:solidFill>
                        <a:srgbClr val="D7DDEA"/>
                      </a:solidFill>
                      <a:prstDash val="solid"/>
                    </a:lnR>
                    <a:lnT w="9525">
                      <a:solidFill>
                        <a:srgbClr val="D7DDEA"/>
                      </a:solidFill>
                      <a:prstDash val="solid"/>
                    </a:lnT>
                    <a:lnB w="9525">
                      <a:solidFill>
                        <a:srgbClr val="D7DDEA"/>
                      </a:solidFill>
                      <a:prstDash val="solid"/>
                    </a:lnB>
                    <a:solidFill>
                      <a:srgbClr val="0B1530"/>
                    </a:solidFill>
                  </a:tcPr>
                </a:tc>
              </a:tr>
              <a:tr h="673100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0B15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控制对象</a:t>
                      </a:r>
                    </a:p>
                  </a:txBody>
                  <a:tcPr marL="114300" marR="95250" marT="66675" marB="66675">
                    <a:lnL w="9525">
                      <a:solidFill>
                        <a:srgbClr val="D7DDEA"/>
                      </a:solidFill>
                      <a:prstDash val="solid"/>
                    </a:lnL>
                    <a:lnR w="9525">
                      <a:solidFill>
                        <a:srgbClr val="D7DDEA"/>
                      </a:solidFill>
                      <a:prstDash val="solid"/>
                    </a:lnR>
                    <a:lnB w="9525">
                      <a:solidFill>
                        <a:srgbClr val="D7DDEA"/>
                      </a:solidFill>
                      <a:prstDash val="solid"/>
                    </a:lnB>
                    <a:solidFill>
                      <a:srgbClr val="EEF1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4516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根据置信度选择逻辑验证长度 L</a:t>
                      </a:r>
                    </a:p>
                  </a:txBody>
                  <a:tcPr marL="114300" marR="95250" marT="66675" marB="66675">
                    <a:lnR w="9525">
                      <a:solidFill>
                        <a:srgbClr val="D7DDEA"/>
                      </a:solidFill>
                      <a:prstDash val="solid"/>
                    </a:lnR>
                    <a:lnB w="9525">
                      <a:solidFill>
                        <a:srgbClr val="D7DD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3213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保留逻辑 L，并进一步选择物理草稿宽度 K*</a:t>
                      </a:r>
                    </a:p>
                  </a:txBody>
                  <a:tcPr marL="114300" marR="95250" marT="66675" marB="66675">
                    <a:lnR w="9525">
                      <a:solidFill>
                        <a:srgbClr val="D7DDEA"/>
                      </a:solidFill>
                      <a:prstDash val="solid"/>
                    </a:lnR>
                    <a:lnB w="9525">
                      <a:solidFill>
                        <a:srgbClr val="D7DDEA"/>
                      </a:solidFill>
                      <a:prstDash val="solid"/>
                    </a:lnB>
                    <a:solidFill>
                      <a:srgbClr val="E5F8FA"/>
                    </a:solidFill>
                  </a:tcPr>
                </a:tc>
              </a:tr>
              <a:tr h="673100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0B15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草稿执行</a:t>
                      </a:r>
                    </a:p>
                  </a:txBody>
                  <a:tcPr marL="114300" marR="95250" marT="66675" marB="66675">
                    <a:lnL w="9525">
                      <a:solidFill>
                        <a:srgbClr val="D7DDEA"/>
                      </a:solidFill>
                      <a:prstDash val="solid"/>
                    </a:lnL>
                    <a:lnR w="9525">
                      <a:solidFill>
                        <a:srgbClr val="D7DDEA"/>
                      </a:solidFill>
                      <a:prstDash val="solid"/>
                    </a:lnR>
                    <a:lnB w="9525">
                      <a:solidFill>
                        <a:srgbClr val="D7DDEA"/>
                      </a:solidFill>
                      <a:prstDash val="solid"/>
                    </a:lnB>
                    <a:solidFill>
                      <a:srgbClr val="EEF1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4516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通常仍按最大宽度 Kmax 生成</a:t>
                      </a:r>
                    </a:p>
                  </a:txBody>
                  <a:tcPr marL="114300" marR="95250" marT="66675" marB="66675">
                    <a:lnR w="9525">
                      <a:solidFill>
                        <a:srgbClr val="D7DDEA"/>
                      </a:solidFill>
                      <a:prstDash val="solid"/>
                    </a:lnR>
                    <a:lnB w="9525">
                      <a:solidFill>
                        <a:srgbClr val="D7DD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3213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draft 按 K* 实际生成，减少未使用的草稿后缀</a:t>
                      </a:r>
                    </a:p>
                  </a:txBody>
                  <a:tcPr marL="114300" marR="95250" marT="66675" marB="66675">
                    <a:lnR w="9525">
                      <a:solidFill>
                        <a:srgbClr val="D7DDEA"/>
                      </a:solidFill>
                      <a:prstDash val="solid"/>
                    </a:lnR>
                    <a:lnB w="9525">
                      <a:solidFill>
                        <a:srgbClr val="D7DDEA"/>
                      </a:solidFill>
                      <a:prstDash val="solid"/>
                    </a:lnB>
                    <a:solidFill>
                      <a:srgbClr val="E5F8FA"/>
                    </a:solidFill>
                  </a:tcPr>
                </a:tc>
              </a:tr>
              <a:tr h="673100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0B15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代价依据</a:t>
                      </a:r>
                    </a:p>
                  </a:txBody>
                  <a:tcPr marL="114300" marR="95250" marT="66675" marB="66675">
                    <a:lnL w="9525">
                      <a:solidFill>
                        <a:srgbClr val="D7DDEA"/>
                      </a:solidFill>
                      <a:prstDash val="solid"/>
                    </a:lnL>
                    <a:lnR w="9525">
                      <a:solidFill>
                        <a:srgbClr val="D7DDEA"/>
                      </a:solidFill>
                      <a:prstDash val="solid"/>
                    </a:lnR>
                    <a:lnB w="9525">
                      <a:solidFill>
                        <a:srgbClr val="D7DDEA"/>
                      </a:solidFill>
                      <a:prstDash val="solid"/>
                    </a:lnB>
                    <a:solidFill>
                      <a:srgbClr val="EEF1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4516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硬件代价主要作用于验证预算</a:t>
                      </a:r>
                    </a:p>
                  </a:txBody>
                  <a:tcPr marL="114300" marR="95250" marT="66675" marB="66675">
                    <a:lnR w="9525">
                      <a:solidFill>
                        <a:srgbClr val="D7DDEA"/>
                      </a:solidFill>
                      <a:prstDash val="solid"/>
                    </a:lnR>
                    <a:lnB w="9525">
                      <a:solidFill>
                        <a:srgbClr val="D7DD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3213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联合使用实测 Tdraft(B,K) 与 Tverify(B,L) 评分</a:t>
                      </a:r>
                    </a:p>
                  </a:txBody>
                  <a:tcPr marL="114300" marR="95250" marT="66675" marB="66675">
                    <a:lnR w="9525">
                      <a:solidFill>
                        <a:srgbClr val="D7DDEA"/>
                      </a:solidFill>
                      <a:prstDash val="solid"/>
                    </a:lnR>
                    <a:lnB w="9525">
                      <a:solidFill>
                        <a:srgbClr val="D7DDEA"/>
                      </a:solidFill>
                      <a:prstDash val="solid"/>
                    </a:lnB>
                    <a:solidFill>
                      <a:srgbClr val="E5F8FA"/>
                    </a:solidFill>
                  </a:tcPr>
                </a:tc>
              </a:tr>
              <a:tr h="673100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0B15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batch 适应</a:t>
                      </a:r>
                    </a:p>
                  </a:txBody>
                  <a:tcPr marL="114300" marR="95250" marT="66675" marB="66675">
                    <a:lnL w="9525">
                      <a:solidFill>
                        <a:srgbClr val="D7DDEA"/>
                      </a:solidFill>
                      <a:prstDash val="solid"/>
                    </a:lnL>
                    <a:lnR w="9525">
                      <a:solidFill>
                        <a:srgbClr val="D7DDEA"/>
                      </a:solidFill>
                      <a:prstDash val="solid"/>
                    </a:lnR>
                    <a:lnB w="9525">
                      <a:solidFill>
                        <a:srgbClr val="D7DDEA"/>
                      </a:solidFill>
                      <a:prstDash val="solid"/>
                    </a:lnB>
                    <a:solidFill>
                      <a:srgbClr val="EEF1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4516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单一宽度难以覆盖动态 batch</a:t>
                      </a:r>
                    </a:p>
                  </a:txBody>
                  <a:tcPr marL="114300" marR="95250" marT="66675" marB="66675">
                    <a:lnR w="9525">
                      <a:solidFill>
                        <a:srgbClr val="D7DDEA"/>
                      </a:solidFill>
                      <a:prstDash val="solid"/>
                    </a:lnR>
                    <a:lnB w="9525">
                      <a:solidFill>
                        <a:srgbClr val="D7DD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3213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从 batch 1 开始按 bucket 独立维护推荐宽度</a:t>
                      </a:r>
                    </a:p>
                  </a:txBody>
                  <a:tcPr marL="114300" marR="95250" marT="66675" marB="66675">
                    <a:lnR w="9525">
                      <a:solidFill>
                        <a:srgbClr val="D7DDEA"/>
                      </a:solidFill>
                      <a:prstDash val="solid"/>
                    </a:lnR>
                    <a:lnB w="9525">
                      <a:solidFill>
                        <a:srgbClr val="D7DDEA"/>
                      </a:solidFill>
                      <a:prstDash val="solid"/>
                    </a:lnB>
                    <a:solidFill>
                      <a:srgbClr val="E5F8FA"/>
                    </a:solidFill>
                  </a:tcPr>
                </a:tc>
              </a:tr>
              <a:tr h="673100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0B15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执行与安全</a:t>
                      </a:r>
                    </a:p>
                  </a:txBody>
                  <a:tcPr marL="114300" marR="95250" marT="66675" marB="66675">
                    <a:lnL w="9525">
                      <a:solidFill>
                        <a:srgbClr val="D7DDEA"/>
                      </a:solidFill>
                      <a:prstDash val="solid"/>
                    </a:lnL>
                    <a:lnR w="9525">
                      <a:solidFill>
                        <a:srgbClr val="D7DDEA"/>
                      </a:solidFill>
                      <a:prstDash val="solid"/>
                    </a:lnR>
                    <a:lnB w="9525">
                      <a:solidFill>
                        <a:srgbClr val="D7DDEA"/>
                      </a:solidFill>
                      <a:prstDash val="solid"/>
                    </a:lnB>
                    <a:solidFill>
                      <a:srgbClr val="EEF1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44516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逻辑长度变化不一定改变底层路径</a:t>
                      </a:r>
                    </a:p>
                  </a:txBody>
                  <a:tcPr marL="114300" marR="95250" marT="66675" marB="66675">
                    <a:lnR w="9525">
                      <a:solidFill>
                        <a:srgbClr val="D7DDEA"/>
                      </a:solidFill>
                      <a:prstDash val="solid"/>
                    </a:lnR>
                    <a:lnB w="9525">
                      <a:solidFill>
                        <a:srgbClr val="D7DD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3213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同步切换图、attention、采样与 buffer，并提供保护和回退</a:t>
                      </a:r>
                    </a:p>
                  </a:txBody>
                  <a:tcPr marL="114300" marR="95250" marT="66675" marB="66675">
                    <a:lnR w="9525">
                      <a:solidFill>
                        <a:srgbClr val="D7DDEA"/>
                      </a:solidFill>
                      <a:prstDash val="solid"/>
                    </a:lnR>
                    <a:lnB w="9525">
                      <a:solidFill>
                        <a:srgbClr val="D7DDEA"/>
                      </a:solidFill>
                      <a:prstDash val="solid"/>
                    </a:lnB>
                    <a:solidFill>
                      <a:srgbClr val="E5F8FA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DA8E2B-3B32-42F8-997D-5587F290F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753100"/>
            <a:ext cx="107823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0B1530"/>
          </a:solidFill>
          <a:ln xmlns:a="http://schemas.openxmlformats.org/drawingml/2006/main" w="9525">
            <a:solidFill>
              <a:srgbClr val="0B1530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5F8A31-AD4D-45BD-BE8D-9C5FAA58F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876925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核心差异：现有方案决定“验证多少”，新方案进一步决定“实际生成多少”。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850147-0884-4878-A875-C1CDEA160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96050"/>
            <a:ext cx="990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900" b="0">
                <a:solidFill>
                  <a:srgbClr val="6D789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900" b="0">
                <a:solidFill>
                  <a:srgbClr val="6D78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D7890"/>
                </a:solidFill>
                <a:latin typeface="Microsoft YaHei"/>
                <a:ea typeface="Microsoft YaHei"/>
                <a:cs typeface="Microsoft YaHei"/>
              </a:rPr>
              <a:t>代码基线  spec1 @ 5403af1b8    对照基线  0bf84a84e / 上游 DSpark Adaptive Verification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9E1B523-6223-49FD-80A3-BBD8B2250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1028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900" b="1">
                <a:solidFill>
                  <a:srgbClr val="12B8C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900" b="1">
                <a:solidFill>
                  <a:srgbClr val="12B8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12B8C8"/>
                </a:solidFill>
                <a:latin typeface="Microsoft YaHei"/>
                <a:ea typeface="Microsoft YaHei"/>
                <a:cs typeface="Microsoft YaHei"/>
              </a:rPr>
              <a:t>专利讨论稿</a:t>
            </a:r>
          </a:p>
        </p:txBody>
      </p:sp>
    </p:spTree>
    <p:extLst>
      <p:ext uri="{BB962C8B-B14F-4D97-AF65-F5344CB8AC3E}">
        <p14:creationId xmlns:p14="http://schemas.microsoft.com/office/powerpoint/2010/main" val="183270276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DB4CE47-0ED2-4468-89AD-2ED739E77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005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75" b="1">
                <a:solidFill>
                  <a:srgbClr val="12B8C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12B8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2B8C8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119E2D-8931-4132-8869-2260FCD3B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38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000" b="1">
                <a:solidFill>
                  <a:srgbClr val="0B153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0B15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0B1530"/>
                </a:solidFill>
                <a:latin typeface="Microsoft YaHei"/>
                <a:ea typeface="Microsoft YaHei"/>
                <a:cs typeface="Microsoft YaHei"/>
              </a:rPr>
              <a:t>新方案的技术效果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04F615-073D-467D-8314-28CE74A22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838200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350" b="0">
                <a:solidFill>
                  <a:srgbClr val="6D789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D78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D7890"/>
                </a:solidFill>
                <a:latin typeface="Microsoft YaHei"/>
                <a:ea typeface="Microsoft YaHei"/>
                <a:cs typeface="Microsoft YaHei"/>
              </a:rPr>
              <a:t>物理宽度控制把逻辑预算变化转化为实际执行量变化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AA796E-5E1A-4A97-AA50-9030DA84D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23950"/>
            <a:ext cx="11010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DEA"/>
          </a:solidFill>
          <a:ln xmlns:a="http://schemas.openxmlformats.org/drawingml/2006/main" w="9525">
            <a:solidFill>
              <a:srgbClr val="D7DDEA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948219-4E75-4DE9-A528-051AF4148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09700"/>
            <a:ext cx="533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00" b="1">
                <a:solidFill>
                  <a:srgbClr val="2E6BE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2E6B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E6BE6"/>
                </a:solidFill>
                <a:latin typeface="Microsoft YaHei"/>
                <a:ea typeface="Microsoft YaHei"/>
                <a:cs typeface="Microsoft YaHei"/>
              </a:rPr>
              <a:t>直接收益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D149F5-6CB6-41C8-958C-AF224F211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85950"/>
            <a:ext cx="5334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2E6BE6"/>
          </a:solidFill>
          <a:ln xmlns:a="http://schemas.openxmlformats.org/drawingml/2006/main" w="9525">
            <a:solidFill>
              <a:srgbClr val="2E6BE6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28CF94-ECF6-4C10-B133-3FAE5E46B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383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4D24AC9-23A3-420C-BDE3-7BC289EBD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876425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75" b="1">
                <a:solidFill>
                  <a:srgbClr val="2E6BE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2E6B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E6BE6"/>
                </a:solidFill>
                <a:latin typeface="Microsoft YaHei"/>
                <a:ea typeface="Microsoft YaHei"/>
                <a:cs typeface="Microsoft YaHei"/>
              </a:rPr>
              <a:t>减少无效草稿计算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7897FEA-6F19-4798-81C9-C91384E82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181225"/>
            <a:ext cx="4762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75" b="0">
                <a:solidFill>
                  <a:srgbClr val="13213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1321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3213C"/>
                </a:solidFill>
                <a:latin typeface="Microsoft YaHei"/>
                <a:ea typeface="Microsoft YaHei"/>
                <a:cs typeface="Microsoft YaHei"/>
              </a:rPr>
              <a:t>当逻辑验证长度缩短时，物理 K* 可以同步收窄，避免继续生成不会进入验证的草稿后缀。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4382440-8EDB-4A7B-AB04-C6A4CF1A7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876550"/>
            <a:ext cx="5334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7B61D1"/>
          </a:solidFill>
          <a:ln xmlns:a="http://schemas.openxmlformats.org/drawingml/2006/main" w="9525">
            <a:solidFill>
              <a:srgbClr val="7B61D1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9C637B1-AAA9-4C14-9DE1-1BB960598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289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65463DD-9F58-4134-AF13-1EBA3D717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867025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75" b="1">
                <a:solidFill>
                  <a:srgbClr val="7B61D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7B61D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7B61D1"/>
                </a:solidFill>
                <a:latin typeface="Microsoft YaHei"/>
                <a:ea typeface="Microsoft YaHei"/>
                <a:cs typeface="Microsoft YaHei"/>
              </a:rPr>
              <a:t>提升实际有效吞吐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CE2B9C4-BAF1-44C0-99DD-72BD995FF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171825"/>
            <a:ext cx="4762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75" b="0">
                <a:solidFill>
                  <a:srgbClr val="13213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1321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3213C"/>
                </a:solidFill>
                <a:latin typeface="Microsoft YaHei"/>
                <a:ea typeface="Microsoft YaHei"/>
                <a:cs typeface="Microsoft YaHei"/>
              </a:rPr>
              <a:t>依据目标 NPU 的实测代价选择 K*，而不是假设 K 越小一定越快。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BB34560-46C8-4F35-B501-5DB36D88F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867150"/>
            <a:ext cx="5334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28B36"/>
          </a:solidFill>
          <a:ln xmlns:a="http://schemas.openxmlformats.org/drawingml/2006/main" w="9525">
            <a:solidFill>
              <a:srgbClr val="F28B3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3DCCDB6-1A93-4D8E-A2C0-71CF99C49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195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5A0C5D4-B115-46A7-9E3E-A314064E0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857625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75" b="1">
                <a:solidFill>
                  <a:srgbClr val="F28B3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F28B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28B36"/>
                </a:solidFill>
                <a:latin typeface="Microsoft YaHei"/>
                <a:ea typeface="Microsoft YaHei"/>
                <a:cs typeface="Microsoft YaHei"/>
              </a:rPr>
              <a:t>适应动态 batch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1EDEF5D-C0DE-4A1F-A1DA-B1B97CE6D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162425"/>
            <a:ext cx="4762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75" b="0">
                <a:solidFill>
                  <a:srgbClr val="13213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1321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3213C"/>
                </a:solidFill>
                <a:latin typeface="Microsoft YaHei"/>
                <a:ea typeface="Microsoft YaHei"/>
                <a:cs typeface="Microsoft YaHei"/>
              </a:rPr>
              <a:t>不同 batch bucket 独立维护推荐宽度，可覆盖 rollout 从大 batch 缩减到 batch 1 的过程。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CC57D85-8C7A-47AE-A3C7-2D5CB06AE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857750"/>
            <a:ext cx="5334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278C6B"/>
          </a:solidFill>
          <a:ln xmlns:a="http://schemas.openxmlformats.org/drawingml/2006/main" w="9525">
            <a:solidFill>
              <a:srgbClr val="278C6B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86256C6-3E2E-4E3B-878F-D694103B5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101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9463A1F-889A-48FC-B4FD-35D3A124A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848225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75" b="1">
                <a:solidFill>
                  <a:srgbClr val="278C6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278C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78C6B"/>
                </a:solidFill>
                <a:latin typeface="Microsoft YaHei"/>
                <a:ea typeface="Microsoft YaHei"/>
                <a:cs typeface="Microsoft YaHei"/>
              </a:rPr>
              <a:t>收益落实到底层执行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A2A4651-8361-47BB-97EE-1D790DB2F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153025"/>
            <a:ext cx="4762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75" b="0">
                <a:solidFill>
                  <a:srgbClr val="13213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1321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3213C"/>
                </a:solidFill>
                <a:latin typeface="Microsoft YaHei"/>
                <a:ea typeface="Microsoft YaHei"/>
                <a:cs typeface="Microsoft YaHei"/>
              </a:rPr>
              <a:t>宽度决策同步作用于计算图、attention 元数据、采样范围和 buffer 视图。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5D73CA6-6100-4F20-9740-9F79CCFEC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409700"/>
            <a:ext cx="457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00" b="1">
                <a:solidFill>
                  <a:srgbClr val="7B61D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7B61D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7B61D1"/>
                </a:solidFill>
                <a:latin typeface="Microsoft YaHei"/>
                <a:ea typeface="Microsoft YaHei"/>
                <a:cs typeface="Microsoft YaHei"/>
              </a:rPr>
              <a:t>收益能够落地的原因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4B56733-2C20-45A8-AD78-32E62428F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924050"/>
            <a:ext cx="4400550" cy="16764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F1EDFF"/>
          </a:solidFill>
          <a:ln xmlns:a="http://schemas.openxmlformats.org/drawingml/2006/main" w="9525">
            <a:solidFill>
              <a:srgbClr val="7B61D1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1D5A276-9DD2-46CD-92DB-661946F60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152650"/>
            <a:ext cx="39052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75" b="0">
                <a:solidFill>
                  <a:srgbClr val="13213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marL="215900" indent="-101600">
              <a:spcAft>
                <a:spcPts val="800"/>
              </a:spcAft>
              <a:buChar char="•"/>
              <a:defRPr sz="1275" b="0">
                <a:solidFill>
                  <a:srgbClr val="1321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13213C"/>
                </a:solidFill>
                <a:latin typeface="Microsoft YaHei"/>
                <a:ea typeface="Microsoft YaHei"/>
                <a:cs typeface="Microsoft YaHei"/>
              </a:rPr>
              <a:t>使用目标硬件实测的 batch × K 代价，不对未覆盖范围盲目外推</a:t>
            </a:r>
          </a:p>
          <a:p xmlns:a="http://schemas.openxmlformats.org/drawingml/2006/main">
            <a:pPr marL="215900" indent="-101600">
              <a:spcAft>
                <a:spcPts val="800"/>
              </a:spcAft>
              <a:buChar char="•"/>
              <a:defRPr sz="1275" b="0">
                <a:solidFill>
                  <a:srgbClr val="1321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13213C"/>
                </a:solidFill>
                <a:latin typeface="Microsoft YaHei"/>
                <a:ea typeface="Microsoft YaHei"/>
                <a:cs typeface="Microsoft YaHei"/>
              </a:rPr>
              <a:t>采用评分节流、滞回和驻留，降低频繁切换带来的额外开销</a:t>
            </a:r>
          </a:p>
          <a:p xmlns:a="http://schemas.openxmlformats.org/drawingml/2006/main">
            <a:pPr marL="215900" indent="-101600">
              <a:spcAft>
                <a:spcPts val="800"/>
              </a:spcAft>
              <a:buChar char="•"/>
              <a:defRPr sz="1275" b="0">
                <a:solidFill>
                  <a:srgbClr val="1321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13213C"/>
                </a:solidFill>
                <a:latin typeface="Microsoft YaHei"/>
                <a:ea typeface="Microsoft YaHei"/>
                <a:cs typeface="Microsoft YaHei"/>
              </a:rPr>
              <a:t>通过跨层一致性检查、full-K 探测和异常回退保持执行稳定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23580CF-A2D0-4C47-9510-5A738CA89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867150"/>
            <a:ext cx="44005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E8F6F0"/>
          </a:solidFill>
          <a:ln xmlns:a="http://schemas.openxmlformats.org/drawingml/2006/main" w="9525">
            <a:solidFill>
              <a:srgbClr val="278C6B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526CA8D-C866-4074-8382-54DA12547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40576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00" b="1">
                <a:solidFill>
                  <a:srgbClr val="278C6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278C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78C6B"/>
                </a:solidFill>
                <a:latin typeface="Microsoft YaHei"/>
                <a:ea typeface="Microsoft YaHei"/>
                <a:cs typeface="Microsoft YaHei"/>
              </a:rPr>
              <a:t>相对现有方案的价值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02577F7-AB6A-4DB4-A198-E03AE5CC0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4438650"/>
            <a:ext cx="3905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350" b="0">
                <a:solidFill>
                  <a:srgbClr val="13213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1321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3213C"/>
                </a:solidFill>
                <a:latin typeface="Microsoft YaHei"/>
                <a:ea typeface="Microsoft YaHei"/>
                <a:cs typeface="Microsoft YaHei"/>
              </a:rPr>
              <a:t>现有方案获得逻辑层面的验证预算收益。新方案把该收益继续传递到 draft 生成、计算图和缓存执行层。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AD88F6A-824E-4F32-A236-9E7AC0A4B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905500"/>
            <a:ext cx="105537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B1530"/>
          </a:solidFill>
          <a:ln xmlns:a="http://schemas.openxmlformats.org/drawingml/2006/main" w="9525">
            <a:solidFill>
              <a:srgbClr val="0B1530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7464752-8A79-473F-B870-FFA6CBD05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6019800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专利价值：将置信度带来的逻辑缩短，转化为目标硬件上的物理计算缩减。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6CBC398-428F-45E8-BC70-973A7C07D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96050"/>
            <a:ext cx="990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900" b="0">
                <a:solidFill>
                  <a:srgbClr val="6D789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900" b="0">
                <a:solidFill>
                  <a:srgbClr val="6D78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D7890"/>
                </a:solidFill>
                <a:latin typeface="Microsoft YaHei"/>
                <a:ea typeface="Microsoft YaHei"/>
                <a:cs typeface="Microsoft YaHei"/>
              </a:rPr>
              <a:t>代码基线  spec1 @ 5403af1b8    对照基线  0bf84a84e / 上游 DSpark Adaptive Verification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98BEAEA-E5FF-45A3-8072-EE4D0D0CB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96050"/>
            <a:ext cx="1028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900" b="1">
                <a:solidFill>
                  <a:srgbClr val="12B8C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900" b="1">
                <a:solidFill>
                  <a:srgbClr val="12B8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12B8C8"/>
                </a:solidFill>
                <a:latin typeface="Microsoft YaHei"/>
                <a:ea typeface="Microsoft YaHei"/>
                <a:cs typeface="Microsoft YaHei"/>
              </a:rPr>
              <a:t>专利讨论稿</a:t>
            </a:r>
          </a:p>
        </p:txBody>
      </p:sp>
    </p:spTree>
    <p:extLst>
      <p:ext uri="{BB962C8B-B14F-4D97-AF65-F5344CB8AC3E}">
        <p14:creationId xmlns:p14="http://schemas.microsoft.com/office/powerpoint/2010/main" val="15568980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2026-10-13T11:14:53.3630000Z</dcterms:created>
  <dcterms:modified xsi:type="dcterms:W3CDTF">2026-10-13T11:14:53.3630000Z</dcterms:modified>
</coreProperties>
</file>