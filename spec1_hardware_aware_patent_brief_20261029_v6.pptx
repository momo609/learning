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fa4b7833a84d6d" /><Relationship Type="http://schemas.openxmlformats.org/officeDocument/2006/relationships/extended-properties" Target="/docProps/app.xml" Id="R9942fa8e2e4d48de" /><Relationship Type="http://schemas.openxmlformats.org/officeDocument/2006/relationships/officeDocument" Target="/ppt/presentation.xml" Id="R90a36807ce2e43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cbde079e544491"/>
  </p:sldMasterIdLst>
  <p:notesMasterIdLst>
    <p:notesMasterId xmlns:r="http://schemas.openxmlformats.org/officeDocument/2006/relationships" r:id="R8ea6bcabd98440d9"/>
  </p:notesMasterIdLst>
  <p:sldIdLst>
    <p:sldId xmlns:r="http://schemas.openxmlformats.org/officeDocument/2006/relationships" id="256" r:id="Re28f51c878d34bce"/>
    <p:sldId xmlns:r="http://schemas.openxmlformats.org/officeDocument/2006/relationships" id="257" r:id="R190c0028af004c62"/>
    <p:sldId xmlns:r="http://schemas.openxmlformats.org/officeDocument/2006/relationships" id="258" r:id="R4ac83b80d74a415c"/>
    <p:sldId xmlns:r="http://schemas.openxmlformats.org/officeDocument/2006/relationships" id="259" r:id="R82ef72515a374719"/>
    <p:sldId xmlns:r="http://schemas.openxmlformats.org/officeDocument/2006/relationships" id="260" r:id="R19826616d5d145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22f59edba7476b" /><Relationship Type="http://schemas.openxmlformats.org/officeDocument/2006/relationships/slideMaster" Target="/ppt/slideMasters/slideMaster1.xml" Id="R19cbde079e544491" /><Relationship Type="http://schemas.openxmlformats.org/officeDocument/2006/relationships/notesMaster" Target="/ppt/notesMasters/notesMaster1.xml" Id="R8ea6bcabd98440d9" /><Relationship Type="http://schemas.openxmlformats.org/officeDocument/2006/relationships/presProps" Target="/ppt/presProps.xml" Id="Rd119fc9b05b24566" /><Relationship Type="http://schemas.openxmlformats.org/officeDocument/2006/relationships/tableStyles" Target="/ppt/tableStyles.xml" Id="R4ae52a14093a4da2" /><Relationship Type="http://schemas.openxmlformats.org/officeDocument/2006/relationships/slide" Target="/ppt/slides/slide1.xml" Id="Re28f51c878d34bce" /><Relationship Type="http://schemas.openxmlformats.org/officeDocument/2006/relationships/slide" Target="/ppt/slides/slide2.xml" Id="R190c0028af004c62" /><Relationship Type="http://schemas.openxmlformats.org/officeDocument/2006/relationships/slide" Target="/ppt/slides/slide3.xml" Id="R4ac83b80d74a415c" /><Relationship Type="http://schemas.openxmlformats.org/officeDocument/2006/relationships/slide" Target="/ppt/slides/slide4.xml" Id="R82ef72515a374719" /><Relationship Type="http://schemas.openxmlformats.org/officeDocument/2006/relationships/slide" Target="/ppt/slides/slide5.xml" Id="R19826616d5d145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2703d65d594e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73a6e5cbb14798" /><Relationship Type="http://schemas.openxmlformats.org/officeDocument/2006/relationships/notesMaster" Target="/ppt/notesMasters/notesMaster1.xml" Id="R69f95553c5b844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3789d7c01e4f0f" /><Relationship Type="http://schemas.openxmlformats.org/officeDocument/2006/relationships/notesMaster" Target="/ppt/notesMasters/notesMaster1.xml" Id="R15b12bb8450344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eb06a629b64ae1" /><Relationship Type="http://schemas.openxmlformats.org/officeDocument/2006/relationships/notesMaster" Target="/ppt/notesMasters/notesMaster1.xml" Id="R69433ca54b0640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f2fec5217948be" /><Relationship Type="http://schemas.openxmlformats.org/officeDocument/2006/relationships/notesMaster" Target="/ppt/notesMasters/notesMaster1.xml" Id="R7832a1a8473b43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0d53e776e640b4" /><Relationship Type="http://schemas.openxmlformats.org/officeDocument/2006/relationships/notesMaster" Target="/ppt/notesMasters/notesMaster1.xml" Id="Ree62e62b957b4e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本页为专利讨论稿封面。已提交代码基线：vllm-ascend/spec1 @ e509d7142。在线校准来自当前本地未提交方案，默认 shadow 只观察不应用。对照基线：0bf84a84e 的 DSpark adaptive verification。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代码依据：当前文档 docs/source/user_guide/configuration/additional_config.md；对照实现 0bf84a84e 的 DSpark adaptive verification；当前控制器见 vllm_ascend/dynamic_spec.py。背景结论仅描述机制，不宣称稳定性能收益。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已提交能力依据：e509d7142 的 16 步评分、三次采样中值、候选 K 交错 profiling、TP8 支持、新请求恢复 Kmax 与 full-K 刷新。本地进一步方案依据：physical_k_feedback.py 与 physical_k_calibration.py。校准按实际 K、采样参数和上下文桶维护接受统计，并使用完整步骤耗时修正启动成本。默认 shadow 不改变实际 K；online 需显式开启。公式为概念化表达。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对照依据：0bf84a84e / 上游 DSpark adaptive verification。已提交迭代依据：spec1 @ e509d7142。运行时反馈和校准为当前本地未提交方案，默认 shadow 仅记录校准选择，不改变实际执行。校准只用于物理 K 定价，不改变 AV 的验证预算排序或 rejection sampler 的接受判定。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已提交技术效果依据 spec1 @ e509d7142。本地校准方案依据 physical_k_feedback.py、physical_k_calibration.py 和 physical_k_profile.py。16 步采样间隔、2% 最小收益、2% 探测预算和两步探测属于实施参数，不建议写成独立权利要求的必要限定。未加入未经 NPU A/B 测试验证的具体性能百分比。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86914468194a8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434a6404e3491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f9081ac3a143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eee0489edc40a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b75cd7f30442a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d5b4206dc644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D8BFF2-1697-4E5A-9953-7DA3455525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5BC1576-C897-4CE1-B9E1-C2E611A436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662D5FF-8C86-47E0-BC3B-7ECC555697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8E772C-9443-4C1C-8663-5F85985E8B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3A47448-296D-4882-94EB-7C49B16735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B1254E-B8E2-4BE4-BFA7-DD2756F752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8C9AFB-F04F-48E8-8F70-A65D072D49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AA6AAFA-4C92-40EB-B289-65EC24A0CA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47C492-B5F0-42A1-8A59-7D394BEA8A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9048F6-80E5-4F57-802E-940739B021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4a869f1d35463b" /><Relationship Type="http://schemas.openxmlformats.org/officeDocument/2006/relationships/slideLayout" Target="/ppt/slideLayouts/slideLayout1.xml" Id="Rd56bbc79755e4822" /><Relationship Type="http://schemas.openxmlformats.org/officeDocument/2006/relationships/slideLayout" Target="/ppt/slideLayouts/slideLayout2.xml" Id="R76629ae5bdc844f4" /><Relationship Type="http://schemas.openxmlformats.org/officeDocument/2006/relationships/slideLayout" Target="/ppt/slideLayouts/slideLayout3.xml" Id="Rc3e4d906432f43c5" /><Relationship Type="http://schemas.openxmlformats.org/officeDocument/2006/relationships/slideLayout" Target="/ppt/slideLayouts/slideLayout4.xml" Id="R1b9d3bc1b26248e6" /><Relationship Type="http://schemas.openxmlformats.org/officeDocument/2006/relationships/slideLayout" Target="/ppt/slideLayouts/slideLayout5.xml" Id="R4115ce093cbb457d" /><Relationship Type="http://schemas.openxmlformats.org/officeDocument/2006/relationships/slideLayout" Target="/ppt/slideLayouts/slideLayout6.xml" Id="Ree15c6b6400c48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6bbc79755e4822"/>
    <p:sldLayoutId xmlns:r="http://schemas.openxmlformats.org/officeDocument/2006/relationships" id="2147483650" r:id="R76629ae5bdc844f4"/>
    <p:sldLayoutId xmlns:r="http://schemas.openxmlformats.org/officeDocument/2006/relationships" id="2147483651" r:id="Rc3e4d906432f43c5"/>
    <p:sldLayoutId xmlns:r="http://schemas.openxmlformats.org/officeDocument/2006/relationships" id="2147483652" r:id="R1b9d3bc1b26248e6"/>
    <p:sldLayoutId xmlns:r="http://schemas.openxmlformats.org/officeDocument/2006/relationships" id="2147483653" r:id="R4115ce093cbb457d"/>
    <p:sldLayoutId xmlns:r="http://schemas.openxmlformats.org/officeDocument/2006/relationships" id="2147483654" r:id="Ree15c6b6400c48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9b4a20fcd7445a" /><Relationship Type="http://schemas.openxmlformats.org/officeDocument/2006/relationships/notesSlide" Target="/ppt/notesSlides/notesSlide1.xml" Id="Rce7eea13176246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a0a49609e54190" /><Relationship Type="http://schemas.openxmlformats.org/officeDocument/2006/relationships/notesSlide" Target="/ppt/notesSlides/notesSlide2.xml" Id="Ra96d7eb9586542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d85dfae4984cee" /><Relationship Type="http://schemas.openxmlformats.org/officeDocument/2006/relationships/notesSlide" Target="/ppt/notesSlides/notesSlide3.xml" Id="R7bca6951db0f4e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1a51b3f1ff4203" /><Relationship Type="http://schemas.openxmlformats.org/officeDocument/2006/relationships/notesSlide" Target="/ppt/notesSlides/notesSlide4.xml" Id="R57d6926298564f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afd605bed541c2" /><Relationship Type="http://schemas.openxmlformats.org/officeDocument/2006/relationships/notesSlide" Target="/ppt/notesSlides/notesSlide5.xml" Id="Rde741af673204d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5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7B913-5E2C-471D-B43F-8760FBF8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1143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C8"/>
          </a:solidFill>
          <a:ln xmlns:a="http://schemas.openxmlformats.org/drawingml/2006/main" w="9525">
            <a:solidFill>
              <a:srgbClr val="12B8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36805D-0910-4A38-9B0C-984D1D87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19200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硬件代价与运行反馈驱动的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物理草稿宽度控制方法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99517-EE7C-41BD-8A6B-B4281538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B7C5E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B7C5E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B7C5E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B7C5E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B7C5E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B7C5E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B7C5E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B7C5E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B7C5E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B7C5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7C5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7C5E8"/>
                </a:solidFill>
                <a:latin typeface="Microsoft YaHei"/>
                <a:ea typeface="Microsoft YaHei"/>
                <a:cs typeface="Microsoft YaHei"/>
              </a:rPr>
              <a:t>现有置信头方案与 spec1 迭代方案差异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A6462-BEE3-4422-8415-76E6F9C3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8294B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8294B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8294B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8294B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8294B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8294B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8294B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8294B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8294B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8294B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8294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294BE"/>
                </a:solidFill>
                <a:latin typeface="Microsoft YaHei"/>
                <a:ea typeface="Microsoft YaHei"/>
                <a:cs typeface="Microsoft YaHei"/>
              </a:rPr>
              <a:t>专利方案梳理  ·  spec1 代码差异  · 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15532-8D67-4D4E-8071-F7C1CC64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24450"/>
            <a:ext cx="781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A5E"/>
          </a:solidFill>
          <a:ln xmlns:a="http://schemas.openxmlformats.org/drawingml/2006/main" w="9525">
            <a:solidFill>
              <a:srgbClr val="2C3A5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D7F20-5470-4035-A753-3C255736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911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核心命题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8F16B-1263-4E99-A8A5-B3B33948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3149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在逻辑验证长度 L 之外，以启动画像和运行反馈共同选择物理草稿宽度 K。</a:t>
            </a:r>
          </a:p>
        </p:txBody>
      </p:sp>
    </p:spTree>
    <p:extLst>
      <p:ext uri="{BB962C8B-B14F-4D97-AF65-F5344CB8AC3E}">
        <p14:creationId xmlns:p14="http://schemas.microsoft.com/office/powerpoint/2010/main" val="12128845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D9D652-0FA9-4712-B612-69694E72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55CE2-D2B6-441A-AB7A-35A8B374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rPr>
              <a:t>现有方案：动态调整逻辑验证长度 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70E15-4268-4764-9F9C-2FD713FF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2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置信头可以减少 target 验证量，但 draft 通常仍按 Kmax 完成生成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DBBD8-D573-4B86-A873-5D0857B5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A"/>
          </a:solidFill>
          <a:ln xmlns:a="http://schemas.openxmlformats.org/drawingml/2006/main" w="9525">
            <a:solidFill>
              <a:srgbClr val="D7DD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942B6-A343-419B-ABBC-632CF063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现有置信头 / Adaptive Verification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12B56-3D46-4C6A-8192-99C1C94A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EAF0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5AC33-2483-47E9-A488-5DA2F720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置信头输出</a:t>
            </a:r>
          </a:p>
          <a:p xmlns:a="http://schemas.openxmlformats.org/drawingml/2006/main">
            <a: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逐位置概率 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135DB-7D30-4F12-A5C1-BC05E5A0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5265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323E5-B45E-4E9D-AE9E-4BBF8AD6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952625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5F8FA"/>
          </a:solidFill>
          <a:ln xmlns:a="http://schemas.openxmlformats.org/drawingml/2006/main" w="9525">
            <a:solidFill>
              <a:srgbClr val="E5F8F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76DE8-4C8E-4BEC-9B23-1E17D041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478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累计生存概率</a:t>
            </a:r>
          </a:p>
          <a:p xmlns:a="http://schemas.openxmlformats.org/drawingml/2006/main">
            <a: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survival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123B57-0626-4C51-B3CD-B6AFF9C6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5265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EE564-A2DE-4129-9083-25CC7CAC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52625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E8F6F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69E3F-469A-4899-A5DD-12510BA7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478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选择逻辑验证长度 L</a:t>
            </a:r>
          </a:p>
          <a:p xmlns:a="http://schemas.openxmlformats.org/drawingml/2006/main">
            <a: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减少 target 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D2057-9303-4E55-A88D-764DCBF2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54483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1E6"/>
          </a:solidFill>
          <a:ln xmlns:a="http://schemas.openxmlformats.org/drawingml/2006/main" w="9525">
            <a:solidFill>
              <a:srgbClr val="F28B3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82854D-E6FD-45CE-BAF8-90639099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rPr>
              <a:t>物理草稿宽度仍为 Kmax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C1BF04-2E03-4B6E-A43F-9C126151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即使只验证 L=2，draft 仍可能先生成 K=5，未使用后缀已经消耗 NPU 计算与图执行时间。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B46256-C7AC-410A-A05D-251874CE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5339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Kmax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16DCEA-CA75-4E30-BE73-6F24CD6C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76750"/>
            <a:ext cx="514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C6B"/>
          </a:solidFill>
          <a:ln xmlns:a="http://schemas.openxmlformats.org/drawingml/2006/main" w="9525">
            <a:solidFill>
              <a:srgbClr val="278C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E3CB28-86F6-41FD-A304-03D6F63F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339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AFD337-F2D2-42A2-BA48-86C992D7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76750"/>
            <a:ext cx="514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C6B"/>
          </a:solidFill>
          <a:ln xmlns:a="http://schemas.openxmlformats.org/drawingml/2006/main" w="9525">
            <a:solidFill>
              <a:srgbClr val="278C6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A14F42-083A-4912-93B0-ECBCAA05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339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81BF01-D14B-4D05-9E55-A6E5A9FB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76750"/>
            <a:ext cx="514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8C"/>
          </a:solidFill>
          <a:ln xmlns:a="http://schemas.openxmlformats.org/drawingml/2006/main" w="9525">
            <a:solidFill>
              <a:srgbClr val="D9B18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A1F2D5-740F-41AA-B60C-DCA93717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5339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566570-8AD2-44CC-945B-B39F85FD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76750"/>
            <a:ext cx="514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8C"/>
          </a:solidFill>
          <a:ln xmlns:a="http://schemas.openxmlformats.org/drawingml/2006/main" w="9525">
            <a:solidFill>
              <a:srgbClr val="D9B18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9D2282-189A-4AF7-A52F-B0D5277E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339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B0F9FD-C60B-4109-B01F-CC8EBC1E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76750"/>
            <a:ext cx="514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8C"/>
          </a:solidFill>
          <a:ln xmlns:a="http://schemas.openxmlformats.org/drawingml/2006/main" w="9525">
            <a:solidFill>
              <a:srgbClr val="D9B18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E8007E-75E9-4780-A0ED-B6945C68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339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DE1202-C55E-4EE2-8369-BF2A858A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434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rPr>
              <a:t>实际验证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2C27CF-2B32-49E5-96CE-01AC9492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434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rPr>
              <a:t>已生成但未使用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7C44E9-F4AD-4480-B82D-AF9C1E5C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409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现有方案的主要局限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3603B8-E1B5-42BD-B861-AC170D9B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1930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B36"/>
          </a:solidFill>
          <a:ln xmlns:a="http://schemas.openxmlformats.org/drawingml/2006/main" w="9525">
            <a:solidFill>
              <a:srgbClr val="F28B3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BE74EB-905B-4157-B3BE-367FA599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574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rPr>
              <a:t>计算错配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28BAC8-C0FA-4EC4-BF13-3522432D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62200"/>
            <a:ext cx="417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逻辑 L 变短不等于物理 K 变短，draft 后缀仍被计算。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B60A24-7B3D-4114-88B2-E647DE34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2420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B50"/>
          </a:solidFill>
          <a:ln xmlns:a="http://schemas.openxmlformats.org/drawingml/2006/main" w="9525">
            <a:solidFill>
              <a:srgbClr val="C74B5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CF0D75-2792-4BCE-A516-5EC9C685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623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C74B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C74B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C74B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C74B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C74B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C74B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C74B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C74B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C74B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C74B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C7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4B50"/>
                </a:solidFill>
                <a:latin typeface="Microsoft YaHei"/>
                <a:ea typeface="Microsoft YaHei"/>
                <a:cs typeface="Microsoft YaHei"/>
              </a:rPr>
              <a:t>硬件错配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26881B-D12E-47F0-BF46-DD28F281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67100"/>
            <a:ext cx="417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不同 K 对应的图和 kernel 延迟可能非单调，K 更小未必更快。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9777EE-3967-472F-B35F-FA40BDEF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2910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D1"/>
          </a:solidFill>
          <a:ln xmlns:a="http://schemas.openxmlformats.org/drawingml/2006/main" w="9525">
            <a:solidFill>
              <a:srgbClr val="7B61D1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1E0930-7F10-4388-A106-04D6A59D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672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负载错配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0F159A-4024-4AE4-9BFF-3F2B8205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72000"/>
            <a:ext cx="417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RL rollout 的 batch 会随 EOS 缩小，同一 K 无法覆盖各批量档位。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0417CC-88B1-449C-801E-B0475DA0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429250"/>
            <a:ext cx="4533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1530"/>
          </a:solidFill>
          <a:ln xmlns:a="http://schemas.openxmlformats.org/drawingml/2006/main" w="9525">
            <a:solidFill>
              <a:srgbClr val="0B1530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28129A-754F-4F99-A313-8F0FF000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600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核心局限：L 已缩短，物理执行量却未同步缩减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6B642A-0311-4DC4-BE9A-F2AE92FB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代码基线  spec1 @ e509d7142 + 本地校准方案    对照基线  0bf84a84e / 上游 DSpark AV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E4EB55-F629-48A3-941D-1B90755B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专利讨论稿</a:t>
            </a:r>
          </a:p>
        </p:txBody>
      </p:sp>
    </p:spTree>
    <p:extLst>
      <p:ext uri="{BB962C8B-B14F-4D97-AF65-F5344CB8AC3E}">
        <p14:creationId xmlns:p14="http://schemas.microsoft.com/office/powerpoint/2010/main" val="18969702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8CA59A-50B9-42A4-9528-0F620212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3A624-2F1E-4A5B-8D27-6BBE6189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rPr>
              <a:t>新方案：启动画像与运行反馈共同选择物理 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B9340-3434-4387-8303-092C18A7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2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启动期建立成本基线，运行期校准接受概率与完整步骤代价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3723D-66D3-43BC-BCE5-22A41EAD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A"/>
          </a:solidFill>
          <a:ln xmlns:a="http://schemas.openxmlformats.org/drawingml/2006/main" w="9525">
            <a:solidFill>
              <a:srgbClr val="D7DD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DCE00-2840-48CA-86DB-D4A38AD3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启动期：建立硬件成本基线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F5511-700C-406F-B8A7-33DD5EEC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9525">
            <a:solidFill>
              <a:srgbClr val="F1ED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D3263-148C-483A-BE27-3B886D78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1447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候选 K</a:t>
            </a:r>
          </a:p>
          <a:p xmlns:a="http://schemas.openxmlformats.org/drawingml/2006/main">
            <a:pPr>
              <a:defRPr sz="15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min_k … Kmax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81D95-6808-4954-9D47-159D3014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2882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26BD7-8AD9-48BD-9D06-52DDC09E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85950"/>
            <a:ext cx="1809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EAF0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B71BC-FAEE-4DFC-B943-0F0D271F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81200"/>
            <a:ext cx="1543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逐 batch 档位</a:t>
            </a:r>
          </a:p>
          <a:p xmlns:a="http://schemas.openxmlformats.org/drawingml/2006/main">
            <a:pPr>
              <a:defRPr sz="15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回放 draft 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05AAC-ABBA-45B7-9FCD-109E0778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2882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C6FFF-D10B-468C-8BAD-893C4D0D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85950"/>
            <a:ext cx="200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5F8FA"/>
          </a:solidFill>
          <a:ln xmlns:a="http://schemas.openxmlformats.org/drawingml/2006/main" w="9525">
            <a:solidFill>
              <a:srgbClr val="E5F8F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59F76C-0B08-4EB2-AD06-A875EB60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981200"/>
            <a:ext cx="173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每形状 3 次采样</a:t>
            </a:r>
          </a:p>
          <a:p xmlns:a="http://schemas.openxmlformats.org/drawingml/2006/main">
            <a:pPr>
              <a:defRPr sz="142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候选 K 交错执行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BF8F42-5CE0-41F6-9806-94C02A9D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2882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36D996-1940-42CC-B623-E1563DFE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85950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E8F6F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04A31E-6C2F-4C85-A1FA-1FF129F9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81200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rPr>
              <a:t>K × batch</a:t>
            </a:r>
          </a:p>
          <a:p xmlns:a="http://schemas.openxmlformats.org/drawingml/2006/main">
            <a: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rPr>
              <a:t>成本基线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E4FF79-65A1-43B5-8C0F-4B803487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14525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rPr>
              <a:t>保留 Kmax 完整 profile。低 K 覆盖 1/2/4/8…批量桶，超出实测范围不外推。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02411-EA12-4D71-A8C1-460AB62B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43225"/>
            <a:ext cx="10801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A"/>
          </a:solidFill>
          <a:ln xmlns:a="http://schemas.openxmlformats.org/drawingml/2006/main" w="9525">
            <a:solidFill>
              <a:srgbClr val="D7DD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E29C00-BE3B-45B1-AF64-5E52F4AC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运行期：反馈校准与保守决策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C628F6-9DAD-4280-8F95-F2B0EDE3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428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EAF0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316517-B8CB-47A0-9170-6856F1EB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1162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原始置信度</a:t>
            </a:r>
          </a:p>
          <a:p xmlns:a="http://schemas.openxmlformats.org/drawingml/2006/main">
            <a:pPr>
              <a:defRPr sz="13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survival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A7A5BE-DF39-4C5A-8DC4-7371C7BF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766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2ECC40-B4D9-4ACF-9CE5-831680EA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14750"/>
            <a:ext cx="161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5F8FA"/>
          </a:solidFill>
          <a:ln xmlns:a="http://schemas.openxmlformats.org/drawingml/2006/main" w="9525">
            <a:solidFill>
              <a:srgbClr val="E5F8F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F390AA-159B-4834-81F2-A6D1ECFA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100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实际接受与拒绝</a:t>
            </a:r>
          </a:p>
          <a:p xmlns:a="http://schemas.openxmlformats.org/drawingml/2006/main">
            <a:pPr>
              <a:defRPr sz="135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在线反馈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74429E-FDEF-47A8-9766-6643E667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766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D322DF-22A0-4B12-B31C-58BB08D4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14750"/>
            <a:ext cx="161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9525">
            <a:solidFill>
              <a:srgbClr val="F1ED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30006D-C8DF-49D4-9331-DCA742D5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100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完整步骤耗时</a:t>
            </a:r>
          </a:p>
          <a:p xmlns:a="http://schemas.openxmlformats.org/drawingml/2006/main">
            <a:pPr>
              <a:defRPr sz="13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运行时修正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F1F2EA-C0F9-446F-B2F4-BA62891F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5762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9E7F23-2CC2-4EE0-A497-EAD791F7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14750"/>
            <a:ext cx="18288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1E6"/>
          </a:solidFill>
          <a:ln xmlns:a="http://schemas.openxmlformats.org/drawingml/2006/main" w="9525">
            <a:solidFill>
              <a:srgbClr val="FFF1E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CD8578-38D1-483A-9867-C590FD7C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100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rPr>
              <a:t>选择 K*</a:t>
            </a:r>
          </a:p>
          <a:p xmlns:a="http://schemas.openxmlformats.org/drawingml/2006/main">
            <a:pPr>
              <a:defRPr sz="142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rPr>
              <a:t>收益下界胜出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E7D337-7B62-45B9-899C-283143D0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5762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6BD414-85C8-4259-BF6B-C3FED51E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2247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E8F6F0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3CF00C-AB5D-438E-ADE9-792616C6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1000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rPr>
              <a:t>scheduler 执行</a:t>
            </a:r>
          </a:p>
          <a:p xmlns:a="http://schemas.openxmlformats.org/drawingml/2006/main">
            <a:pPr>
              <a:defRPr sz="135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rPr>
              <a:t>并安排受控探测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16CC6E-4B3B-4B35-85CE-1D4A9C9A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105918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A3639F-EB14-48FD-A51C-C0F89E4A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rPr>
              <a:t>K* = arg max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D4E006-C4F4-43F7-8365-67443FE0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95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校准后的预期接受 token 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522E4C-8763-44C3-AD3B-4C359F72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210175"/>
            <a:ext cx="255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E6"/>
          </a:solidFill>
          <a:ln xmlns:a="http://schemas.openxmlformats.org/drawingml/2006/main" w="9525">
            <a:solidFill>
              <a:srgbClr val="2E6BE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A4C29E-7B02-4A5C-AF10-9A9A60FC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95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运行时修正的完整步骤代价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3C9304-248C-4B39-AA0F-6E341595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1490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rPr>
              <a:t>每16步或宽度变化时异步采样。默认 shadow 只记录，online 才应用校准结果，并受最小收益与探测预算约束。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7B184D-AC9A-495B-8E6B-AA763A64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代码基线  spec1 @ e509d7142 + 本地校准方案    对照基线  0bf84a84e / 上游 DSpark AV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413035-D463-41A5-A5B6-154F05A6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专利讨论稿</a:t>
            </a:r>
          </a:p>
        </p:txBody>
      </p:sp>
    </p:spTree>
    <p:extLst>
      <p:ext uri="{BB962C8B-B14F-4D97-AF65-F5344CB8AC3E}">
        <p14:creationId xmlns:p14="http://schemas.microsoft.com/office/powerpoint/2010/main" val="423883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792A64-696B-491F-A39B-3D0C64D6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07ED3-C30F-4F2A-8351-D3230A17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rPr>
              <a:t>现有方案与迭代方案的差异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06E42-4C01-474F-9B46-C648DEAD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2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新方案保留置信头，并用实际反馈修正物理 K 的收益判断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1F0BB-130A-4CB9-9C93-C8182D96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A"/>
          </a:solidFill>
          <a:ln xmlns:a="http://schemas.openxmlformats.org/drawingml/2006/main" w="9525">
            <a:solidFill>
              <a:srgbClr val="D7DDEA"/>
            </a:solidFill>
          </a:ln>
        </p:spPr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72186-9DA1-4E04-B725-30CCE9D12207}"/>
              </a:ext>
            </a:extLst>
          </p:cNvPr>
          <p:cNvGraphicFramePr/>
          <p:nvPr/>
        </p:nvGraphicFramePr>
        <p:xfrm>
          <a:off xmlns:a="http://schemas.openxmlformats.org/drawingml/2006/main" x="704850" y="1447800"/>
          <a:ext xmlns:a="http://schemas.openxmlformats.org/drawingml/2006/main" cx="1078230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3924300"/>
                <a:gridCol w="4905375"/>
              </a:tblGrid>
              <a:tr h="6731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7DDEA"/>
                      </a:solidFill>
                      <a:prstDash val="solid"/>
                    </a:lnL>
                    <a:lnR w="9525">
                      <a:solidFill>
                        <a:srgbClr val="D7DDEA"/>
                      </a:solidFill>
                      <a:prstDash val="solid"/>
                    </a:lnR>
                    <a:lnT w="9525">
                      <a:solidFill>
                        <a:srgbClr val="D7DDEA"/>
                      </a:solidFill>
                      <a:prstDash val="solid"/>
                    </a:lnT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现有置信头 / Adaptive Verification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7DDEA"/>
                      </a:solidFill>
                      <a:prstDash val="solid"/>
                    </a:lnR>
                    <a:lnT w="9525">
                      <a:solidFill>
                        <a:srgbClr val="D7DDEA"/>
                      </a:solidFill>
                      <a:prstDash val="solid"/>
                    </a:lnT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spec1 迭代方案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7DDEA"/>
                      </a:solidFill>
                      <a:prstDash val="solid"/>
                    </a:lnR>
                    <a:lnT w="9525">
                      <a:solidFill>
                        <a:srgbClr val="D7DDEA"/>
                      </a:solidFill>
                      <a:prstDash val="solid"/>
                    </a:lnT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0B1530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控制对象</a:t>
                      </a:r>
                    </a:p>
                  </a:txBody>
                  <a:tcPr marL="114300" marR="95250" marT="66675" marB="66675">
                    <a:lnL w="9525">
                      <a:solidFill>
                        <a:srgbClr val="D7DDEA"/>
                      </a:solidFill>
                      <a:prstDash val="solid"/>
                    </a:lnL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51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根据置信度选择逻辑验证长度 L</a:t>
                      </a:r>
                    </a:p>
                  </a:txBody>
                  <a:tcPr marL="114300" marR="95250" marT="66675" marB="66675"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321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保留逻辑 L，并进一步选择物理草稿宽度 K*</a:t>
                      </a:r>
                    </a:p>
                  </a:txBody>
                  <a:tcPr marL="114300" marR="95250" marT="66675" marB="66675"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E5F8FA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初始证据</a:t>
                      </a:r>
                    </a:p>
                  </a:txBody>
                  <a:tcPr marL="114300" marR="95250" marT="66675" marB="66675">
                    <a:lnL w="9525">
                      <a:solidFill>
                        <a:srgbClr val="D7DDEA"/>
                      </a:solidFill>
                      <a:prstDash val="solid"/>
                    </a:lnL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51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主要使用验证代价曲线和原始置信度</a:t>
                      </a:r>
                    </a:p>
                  </a:txBody>
                  <a:tcPr marL="114300" marR="95250" marT="66675" marB="66675"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321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启动期采集 batch × K 成本，低 K 每形状取三次中值</a:t>
                      </a:r>
                    </a:p>
                  </a:txBody>
                  <a:tcPr marL="114300" marR="95250" marT="66675" marB="66675"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E5F8FA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运行时反馈</a:t>
                      </a:r>
                    </a:p>
                  </a:txBody>
                  <a:tcPr marL="114300" marR="95250" marT="66675" marB="66675">
                    <a:lnL w="9525">
                      <a:solidFill>
                        <a:srgbClr val="D7DDEA"/>
                      </a:solidFill>
                      <a:prstDash val="solid"/>
                    </a:lnL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51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逻辑预算变化不会校准物理执行收益</a:t>
                      </a:r>
                    </a:p>
                  </a:txBody>
                  <a:tcPr marL="114300" marR="95250" marT="66675" marB="66675"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321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用实际接受结果校准概率，用完整步骤耗时修正成本</a:t>
                      </a:r>
                    </a:p>
                  </a:txBody>
                  <a:tcPr marL="114300" marR="95250" marT="66675" marB="66675"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E5F8FA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决策原则</a:t>
                      </a:r>
                    </a:p>
                  </a:txBody>
                  <a:tcPr marL="114300" marR="95250" marT="66675" marB="66675">
                    <a:lnL w="9525">
                      <a:solidFill>
                        <a:srgbClr val="D7DDEA"/>
                      </a:solidFill>
                      <a:prstDash val="solid"/>
                    </a:lnL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51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从原始概率估计验证收益</a:t>
                      </a:r>
                    </a:p>
                  </a:txBody>
                  <a:tcPr marL="114300" marR="95250" marT="66675" marB="66675"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321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比较带不确定性边界的效用，并要求最小收益</a:t>
                      </a:r>
                    </a:p>
                  </a:txBody>
                  <a:tcPr marL="114300" marR="95250" marT="66675" marB="66675"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E5F8FA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执行与探测</a:t>
                      </a:r>
                    </a:p>
                  </a:txBody>
                  <a:tcPr marL="114300" marR="95250" marT="66675" marB="66675">
                    <a:lnL w="9525">
                      <a:solidFill>
                        <a:srgbClr val="D7DDEA"/>
                      </a:solidFill>
                      <a:prstDash val="solid"/>
                    </a:lnL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51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通常仍按 Kmax 生成</a:t>
                      </a:r>
                    </a:p>
                  </a:txBody>
                  <a:tcPr marL="114300" marR="95250" marT="66675" marB="66675"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321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K* 切换图和 buffer，并在时间预算内探测其他 K</a:t>
                      </a:r>
                    </a:p>
                  </a:txBody>
                  <a:tcPr marL="114300" marR="95250" marT="66675" marB="66675"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E5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8ADA3-4972-4376-B202-78BC71DF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10782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1530"/>
          </a:solidFill>
          <a:ln xmlns:a="http://schemas.openxmlformats.org/drawingml/2006/main" w="9525">
            <a:solidFill>
              <a:srgbClr val="0B153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D4747-A0FD-495C-AEB2-02CE91AE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76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核心变化：启动画像提供冷启动基线，运行反馈持续修正概率偏差和成本漂移。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97FC72-9964-456F-BCAA-EA974EC5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代码基线  spec1 @ e509d7142 + 本地校准方案    对照基线  0bf84a84e / 上游 DSpark AV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927394-8483-4A1D-AFAD-9CE86EA2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专利讨论稿</a:t>
            </a:r>
          </a:p>
        </p:txBody>
      </p:sp>
    </p:spTree>
    <p:extLst>
      <p:ext uri="{BB962C8B-B14F-4D97-AF65-F5344CB8AC3E}">
        <p14:creationId xmlns:p14="http://schemas.microsoft.com/office/powerpoint/2010/main" val="13578478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187E21-526B-43E9-8499-F69E91D3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35DDD-5F11-42CD-835B-AA6D5255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rPr>
              <a:t>迭代方案的技术效果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785F3-CBF4-4CE8-8059-5D1FB5F7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2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运行反馈提高物理 K 决策对模型、请求和负载变化的适应能力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5E60B-70B1-42B4-B7B1-3398AE16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A"/>
          </a:solidFill>
          <a:ln xmlns:a="http://schemas.openxmlformats.org/drawingml/2006/main" w="9525">
            <a:solidFill>
              <a:srgbClr val="D7DD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2F17F-8C7C-46EC-9E1C-6DDAA0BC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直接收益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1F908-78B3-4B8D-9796-98E483A3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E6BE6"/>
          </a:solidFill>
          <a:ln xmlns:a="http://schemas.openxmlformats.org/drawingml/2006/main" w="9525">
            <a:solidFill>
              <a:srgbClr val="2E6B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9E0E1-2F98-4FF9-900A-0B40437E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E5761-D2EC-4221-B682-B2BAC3F7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764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减少无效草稿计算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407AD-0F45-48A7-B5D7-8F7EC74F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812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当逻辑验证长度缩短时，物理 K* 可以同步收窄，避免继续生成不会进入验证的草稿后缀。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9E01B-C504-48EA-AC12-7CFDE39D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7B61D1"/>
          </a:solidFill>
          <a:ln xmlns:a="http://schemas.openxmlformats.org/drawingml/2006/main" w="9525">
            <a:solidFill>
              <a:srgbClr val="7B61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A3B6B-3F42-4257-A538-85B8A484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41EEA1-D562-4AD3-B203-01E55065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670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修正置信度偏差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0A4DD-EAF5-4480-BD37-144E89EE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718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实际接受结果按物理 K、采样参数和上下文分组，未验证的尾部不作为负样本。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95D1CC-498C-46C1-974D-8443D7CD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8B36"/>
          </a:solidFill>
          <a:ln xmlns:a="http://schemas.openxmlformats.org/drawingml/2006/main" w="9525">
            <a:solidFill>
              <a:srgbClr val="F28B3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1288C3-0826-49DE-B998-15FCA84A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0C2491-B488-4301-8884-B20038CC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57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rPr>
              <a:t>修正运行成本漂移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3495D6-5EA1-40F1-82B4-4A1D86FF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624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完整步骤耗时持续校准启动期画像，降低静态 draft 代价与真实运行不一致的影响。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F6E3A7-B9C6-4998-9751-FE3A7D2D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78C6B"/>
          </a:solidFill>
          <a:ln xmlns:a="http://schemas.openxmlformats.org/drawingml/2006/main" w="9525">
            <a:solidFill>
              <a:srgbClr val="278C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6F5E9D-E9DB-49AF-AE7D-29F08ECF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48E0C9-3DE3-44AD-A40D-DE0E05C1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482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rPr>
              <a:t>控制探索与切换开销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3C1B94-924A-474C-8119-6A54B2A0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530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不确定性边界、最小收益门槛和时间预算探测共同限制不必要的 K 切换。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9619DD-2F0E-4EC1-9C38-0B3AA0FE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097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实施边界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9FF73A-94E7-46B5-9EA9-22D68DA3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24050"/>
            <a:ext cx="44005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9525">
            <a:solidFill>
              <a:srgbClr val="7B61D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F60AB9-1E5A-4B3B-AA94-DD0B2C5A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14550"/>
            <a:ext cx="3905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20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默认 shadow 只计算和记录校准选择，不改变实际 K</a:t>
            </a:r>
          </a:p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20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online 需要显式开启，且校准只用于物理 K 定价</a:t>
            </a:r>
          </a:p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20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混合 prefill、结构化输出和宽度切换步骤不更新成本模型</a:t>
            </a:r>
          </a:p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20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异步反馈不等待设备完成，异常时保留 full-K 回退路径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6F44AB-E579-4FF4-9932-2EA5136A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62400"/>
            <a:ext cx="44005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278C6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4B746E-5B0A-4B87-895A-83FC715C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52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rPr>
              <a:t>相对前一版方案的价值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485060-F861-4F64-ABEA-F9AB6E4C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33900"/>
            <a:ext cx="390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启动画像不再是唯一依据。系统用真实接受结果和完整步骤耗时持续修正 K 的收益判断。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D634F2-D60E-4940-AEFE-888BD243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553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530"/>
          </a:solidFill>
          <a:ln xmlns:a="http://schemas.openxmlformats.org/drawingml/2006/main" w="9525">
            <a:solidFill>
              <a:srgbClr val="0B153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E718B5-90FC-4E96-9DDE-C4653B22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198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专利价值：以硬件画像建立基线，以运行反馈修正偏差，再将 K 决策落实到物理执行。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191411-5A81-45CB-84E4-EC6C79B3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代码基线  spec1 @ e509d7142 + 本地校准方案    对照基线  0bf84a84e / 上游 DSpark AV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452136-8E5B-451A-861F-E0F562CE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专利讨论稿</a:t>
            </a:r>
          </a:p>
        </p:txBody>
      </p:sp>
    </p:spTree>
    <p:extLst>
      <p:ext uri="{BB962C8B-B14F-4D97-AF65-F5344CB8AC3E}">
        <p14:creationId xmlns:p14="http://schemas.microsoft.com/office/powerpoint/2010/main" val="1834861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2026-10-29T07:06:39.7860000Z</dcterms:created>
  <dcterms:modified xsi:type="dcterms:W3CDTF">2026-10-29T07:06:39.7860000Z</dcterms:modified>
</coreProperties>
</file>