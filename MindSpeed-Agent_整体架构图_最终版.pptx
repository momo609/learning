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359f6bf9fa4e56" /><Relationship Type="http://schemas.openxmlformats.org/officeDocument/2006/relationships/extended-properties" Target="/docProps/app.xml" Id="R47f4e7b81614459e" /><Relationship Type="http://schemas.openxmlformats.org/officeDocument/2006/relationships/officeDocument" Target="/ppt/presentation.xml" Id="R27ca0645360d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cd1d2e32284b06"/>
  </p:sldMasterIdLst>
  <p:notesMasterIdLst>
    <p:notesMasterId xmlns:r="http://schemas.openxmlformats.org/officeDocument/2006/relationships" r:id="R3af3f4c875594d95"/>
  </p:notesMasterIdLst>
  <p:sldIdLst>
    <p:sldId xmlns:r="http://schemas.openxmlformats.org/officeDocument/2006/relationships" id="256" r:id="R306ea0c1985a4c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5a7ae392014265" /><Relationship Type="http://schemas.openxmlformats.org/officeDocument/2006/relationships/slideMaster" Target="/ppt/slideMasters/slideMaster1.xml" Id="Rbdcd1d2e32284b06" /><Relationship Type="http://schemas.openxmlformats.org/officeDocument/2006/relationships/notesMaster" Target="/ppt/notesMasters/notesMaster1.xml" Id="R3af3f4c875594d95" /><Relationship Type="http://schemas.openxmlformats.org/officeDocument/2006/relationships/presProps" Target="/ppt/presProps.xml" Id="Rc1ff3ccb431f4b7f" /><Relationship Type="http://schemas.openxmlformats.org/officeDocument/2006/relationships/tableStyles" Target="/ppt/tableStyles.xml" Id="Raf5a4df71b3b472d" /><Relationship Type="http://schemas.openxmlformats.org/officeDocument/2006/relationships/slide" Target="/ppt/slides/slide1.xml" Id="R306ea0c1985a4c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b7c9294dab41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af9fb28234098" /><Relationship Type="http://schemas.openxmlformats.org/officeDocument/2006/relationships/notesMaster" Target="/ppt/notesMasters/notesMaster1.xml" Id="Rcf919bd8ac9f43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</a:t>
            </a:r>
          </a:p>
          <a:p xmlns:a="http://schemas.openxmlformats.org/drawingml/2006/main">
            <a:r>
              <a:t>1. README.md：项目定位、三平台入口、core + 领域 unit 按需安装。</a:t>
            </a:r>
          </a:p>
          <a:p xmlns:a="http://schemas.openxmlformats.org/drawingml/2006/main">
            <a:r>
              <a:t>2. AGENTS.md 与 docs/ARCHITECTURE.md：Plugin、Agent、Skill 三层架构。</a:t>
            </a:r>
          </a:p>
          <a:p xmlns:a="http://schemas.openxmlformats.org/drawingml/2006/main">
            <a:r>
              <a:t>3. catalog/graph.json：13 个社区仓、9 个任务维度、7 个插件、61 个技能节点。</a:t>
            </a:r>
          </a:p>
          <a:p xmlns:a="http://schemas.openxmlformats.org/drawingml/2006/main">
            <a:r>
              <a:t>4. catalog/plugins.yaml：mindspeed-llm、inference-model-optimize、ops、doc-agent、ecosystem-code-repository-npu-migration、veomni-agent 等插件与状态机入口。</a:t>
            </a:r>
          </a:p>
          <a:p xmlns:a="http://schemas.openxmlformats.org/drawingml/2006/main">
            <a:r>
              <a:t>5. catalog/task-kinds.yaml：迁移、对齐、部署、benchmark、诊断、算子、文档、验证等任务分类。</a:t>
            </a:r>
          </a:p>
          <a:p xmlns:a="http://schemas.openxmlformats.org/drawingml/2006/main">
            <a:r>
              <a:t>6. 版式参考：用户提供的 inference-model-optimize 分层架构图，仅参考分层布局与配色，不沿用其内容。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b2205c7b048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9f9f2ddd4a427d" /><Relationship Type="http://schemas.openxmlformats.org/officeDocument/2006/relationships/slideLayout" Target="/ppt/slideLayouts/slideLayout1.xml" Id="R0a29ee3735524d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29ee3735524d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84b6904db4704" /><Relationship Type="http://schemas.openxmlformats.org/officeDocument/2006/relationships/notesSlide" Target="/ppt/notesSlides/notesSlide1.xml" Id="R4e3a3a6b4744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15EAE7-2883-4C1D-9747-2DE336D8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32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MindSpeed-Agent 整体架构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4A07D-B3C8-46CA-B475-B4EF1E21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"/>
            <a:ext cx="895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统一意图路由、领域插件按需安装、多 Agent 编排、Skill 工程交付闭环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41C8C-5E9E-43F3-A5C2-63E995DF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104900"/>
            <a:ext cx="1177290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14288">
            <a:solidFill>
              <a:srgbClr val="1E63E9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0AA27-D49E-4E0E-9DC3-1A31A1A0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14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E63E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E63E9"/>
                </a:solidFill>
                <a:latin typeface="Noto Sans SC"/>
                <a:ea typeface="Noto Sans SC"/>
                <a:cs typeface="Noto Sans SC"/>
              </a:rPr>
              <a:t>L1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F83EA-57F4-4A71-B514-C435E58C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314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1E63E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E63E9"/>
                </a:solidFill>
                <a:latin typeface="Noto Sans SC"/>
                <a:ea typeface="Noto Sans SC"/>
                <a:cs typeface="Noto Sans SC"/>
              </a:rPr>
              <a:t>多平台用户入口层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DDAF9-4934-48B4-9A74-A0B6F969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04925"/>
            <a:ext cx="2000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6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54E7-8899-44BD-8FCA-F284AD6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811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Codex 插件入口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25D6B-63DE-4F6B-BF6A-CB266DE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04925"/>
            <a:ext cx="21907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6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572D7-5CA8-41C0-BC80-393E66FB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381125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Claude Code 插件入口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79EC6-C336-45EA-AB11-9C98BD97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04925"/>
            <a:ext cx="2000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63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70A28-3AB3-46CE-AFF6-6D0792B2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8112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DSH Skills 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60C88-972C-410C-8F39-7AF07EB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2114550"/>
            <a:ext cx="11772900" cy="12001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3FBFA"/>
          </a:solidFill>
          <a:ln xmlns:a="http://schemas.openxmlformats.org/drawingml/2006/main" w="14288">
            <a:solidFill>
              <a:srgbClr val="0C9896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47310-788E-4F23-A019-C5297B0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C989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0C9896"/>
                </a:solidFill>
                <a:latin typeface="Noto Sans SC"/>
                <a:ea typeface="Noto Sans SC"/>
                <a:cs typeface="Noto Sans SC"/>
              </a:rPr>
              <a:t>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C71E2-DAC4-4211-9E54-0056A46B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24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0C989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0C9896"/>
                </a:solidFill>
                <a:latin typeface="Noto Sans SC"/>
                <a:ea typeface="Noto Sans SC"/>
                <a:cs typeface="Noto Sans SC"/>
              </a:rPr>
              <a:t>生态路由与知识图谱层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3AEA6-6ACF-4A9F-931E-8E05767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52675"/>
            <a:ext cx="15811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C98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820A7-7B0B-440F-BC58-B84A035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288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自然语言意图解析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5EBF3-78AE-42D5-BE5C-16A2A50A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52675"/>
            <a:ext cx="15811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C98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20070-3699-4AC9-B562-5B63054D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288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Repo 确定性消歧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D1D90-983A-4C2A-B97F-1E4E7BA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52675"/>
            <a:ext cx="15811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C98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28A75-17DB-4D53-97A0-EF169B4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288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TaskKind 任务分类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4A0E3-E147-417A-B001-D11AE3F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52675"/>
            <a:ext cx="15811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C98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6F5EA-3A30-4D6F-A899-2A601BA0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Plugin / Skill 组链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34C47-D061-4F47-803B-E3BFA6AC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52675"/>
            <a:ext cx="15811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C989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03FB4-4DCF-4AA5-8644-1A1776E7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按需安装就绪检查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CBE29-FFE4-429F-9BA2-2C280ADC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3286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0C9896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0C9896"/>
                </a:solidFill>
                <a:latin typeface="Noto Sans SC"/>
                <a:ea typeface="Noto Sans SC"/>
                <a:cs typeface="Noto Sans SC"/>
              </a:rPr>
              <a:t>13 Repos，9 TaskKinds，7 Plugins，61 Skills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A16C45-3AA7-45F3-9AF3-45F86E79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0C989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0C9896"/>
                </a:solidFill>
                <a:latin typeface="Noto Sans SC"/>
                <a:ea typeface="Noto Sans SC"/>
                <a:cs typeface="Noto Sans SC"/>
              </a:rPr>
              <a:t>路由解析：Resolve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41E41-AFAE-4036-A52D-B84B481C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14700"/>
            <a:ext cx="2476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C989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7700C-1EDC-4616-8D5E-2B2100F2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247650" cy="3810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EB8A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988FBB-571F-4EED-B9CE-98A75379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B8A00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EB8A00"/>
                </a:solidFill>
                <a:latin typeface="Noto Sans SC"/>
                <a:ea typeface="Noto Sans SC"/>
                <a:cs typeface="Noto Sans SC"/>
              </a:rPr>
              <a:t>经验沉淀：Publish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CB4B74-CB82-4995-81D3-64587709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695700"/>
            <a:ext cx="11772900" cy="1438275"/>
          </a:xfrm>
          <a:prstGeom xmlns:a="http://schemas.openxmlformats.org/drawingml/2006/main" prst="roundRect">
            <a:avLst>
              <a:gd name="adj" fmla="val 9934"/>
            </a:avLst>
          </a:prstGeom>
          <a:solidFill xmlns:a="http://schemas.openxmlformats.org/drawingml/2006/main">
            <a:srgbClr val="F8F5FF"/>
          </a:solidFill>
          <a:ln xmlns:a="http://schemas.openxmlformats.org/drawingml/2006/main" w="14288">
            <a:solidFill>
              <a:srgbClr val="6535D8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C72455-16EA-431C-BBBF-812420FE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905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535D8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6535D8"/>
                </a:solidFill>
                <a:latin typeface="Noto Sans SC"/>
                <a:ea typeface="Noto Sans SC"/>
                <a:cs typeface="Noto Sans SC"/>
              </a:rPr>
              <a:t>L3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D42C5B-B9FA-4A96-8E09-A0286B5E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05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6535D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535D8"/>
                </a:solidFill>
                <a:latin typeface="Noto Sans SC"/>
                <a:ea typeface="Noto Sans SC"/>
                <a:cs typeface="Noto Sans SC"/>
              </a:rPr>
              <a:t>Plugin 与 Agent 编排层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043ECB-0584-446E-B1DA-C4440729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371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98516-C324-4C59-87D0-4F2406F6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mindspeed-llm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E89B55-F566-4D19-A1D1-24A909A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86200"/>
            <a:ext cx="1371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B2C52-0350-4ED6-8F36-1C3D7147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62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9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69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inference-model-optimize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F03B04-E043-4C93-A19A-51883F8A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1371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99E8C-105F-41AA-8385-0A27835F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62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ops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A1CFB2-F333-4397-99E0-056DBA2D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1371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D947E6-2247-4581-9F1A-B9A2835D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62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doc-agent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CE0405-B13C-4A63-B61B-09B5EFE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1371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C4D5C8-FF1C-4485-85CF-95E2F39A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62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NPU migrate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F97789-4D6A-4BFF-A5FA-BC44269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13716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DD6A53-E204-487A-A4A5-2630AC5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62400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veomni-agent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C66532-221C-469D-883C-C01BE00E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81500"/>
            <a:ext cx="742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3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E5DAE5-C207-41C7-AEF6-A5F86EB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685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Orchestrator / Workflow 状态机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00934D-240B-43ED-A897-887108F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720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0">
                <a:solidFill>
                  <a:srgbClr val="5B677A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5B677A"/>
                </a:solidFill>
                <a:latin typeface="Noto Sans SC"/>
                <a:ea typeface="Noto Sans SC"/>
                <a:cs typeface="Noto Sans SC"/>
              </a:rPr>
              <a:t>方案设计、代码开发、测试验收、评审优化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77E7C3-80F7-4729-88DC-3EBDA19E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257800"/>
            <a:ext cx="11772900" cy="1066800"/>
          </a:xfrm>
          <a:prstGeom xmlns:a="http://schemas.openxmlformats.org/drawingml/2006/main" prst="roundRect">
            <a:avLst>
              <a:gd name="adj" fmla="val 133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4288">
            <a:solidFill>
              <a:srgbClr val="596579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14C29A-9C37-4641-A97A-294C6086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67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59657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596579"/>
                </a:solidFill>
                <a:latin typeface="Noto Sans SC"/>
                <a:ea typeface="Noto Sans SC"/>
                <a:cs typeface="Noto Sans SC"/>
              </a:rPr>
              <a:t>L4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3159D6-6670-446E-89EC-AD8CFBC8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467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1">
                <a:solidFill>
                  <a:srgbClr val="59657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596579"/>
                </a:solidFill>
                <a:latin typeface="Noto Sans SC"/>
                <a:ea typeface="Noto Sans SC"/>
                <a:cs typeface="Noto Sans SC"/>
              </a:rPr>
              <a:t>Skill 与基础设施层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C7380E-9791-4AB5-A13A-88AB859B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528733-BC93-4265-9445-0F39F0EF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76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LLM 迁移 / FSDP2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534BB1-8A83-4622-A2E0-49D54EFE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29250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A899F0-E522-404F-B7A0-62AD6E75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精度对齐 / 场景验证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FB44F6-EC1E-45F8-AF97-4953806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29250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01A219-2886-4594-A1CA-A342511B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76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vLLM 部署 / Benchmark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7CA06C-73DD-4A62-A518-4B58FDB1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1831E6-5B77-4DD3-97A8-3E0E7568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76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Autotune / Profiling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ADEB545-A272-4A07-BBE4-DDC39693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29250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480089-FD14-4A4A-95A2-BBAE09CC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76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Ascend C / Triton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FC4C93-C5DB-42EE-AC39-69C7282B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29250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ECD702-4B2D-4814-9E0D-FD511E7F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7687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文档生成 / 四维审查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D5B349-712E-4C41-8841-E7BB96A3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57875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AC6B2B-FC78-4A50-A3D4-942C5C9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环境 / 远程连接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2C4F71-B82F-4DE9-9724-B8844DEC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57875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D1FD38-FE69-408D-A5BA-7DE809E4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05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服务生命周期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8EDD75-08DC-4EAD-8ECF-EECD59AA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57875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3B0722-2D1D-4F91-A97C-6910292E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905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日志 / Checkpoint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E0B62F-6967-4204-92C5-F9B4664A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57875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E0C291-CCFE-403E-82F5-56FA7877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05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Schema / Gate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EB44BB-AC09-47EE-A0CB-C257734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57875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02446E-836D-427F-90A0-0D71FE0B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05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Artifact / Report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32DEF7-90E5-4F89-8B55-F1B6F0E3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857875"/>
            <a:ext cx="137160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657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5BEBB2-54DF-4159-A69F-FEC68FBF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9055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1">
                <a:solidFill>
                  <a:srgbClr val="101828"/>
                </a:solidFill>
                <a:latin typeface="Noto Sans SC"/>
                <a:ea typeface="Noto Sans SC"/>
                <a:cs typeface="Noto Sans SC"/>
              </a:rPr>
              <a:t>案例 / 知识沉淀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20A0AD-BC3D-47A4-8177-3F39C6F5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457950"/>
            <a:ext cx="11772900" cy="314325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12383">
            <a:solidFill>
              <a:srgbClr val="1E63E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4550B06-CE8D-40B1-9007-EED17826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15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E63E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43450C-13A6-4A6C-BE61-6DD76F57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15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E63E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E63E9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43DD74-3397-40A4-944A-69EDF90B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505575"/>
            <a:ext cx="8858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E63E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E63E9"/>
                </a:solidFill>
                <a:latin typeface="Noto Sans SC"/>
                <a:ea typeface="Noto Sans SC"/>
                <a:cs typeface="Noto Sans SC"/>
              </a:rPr>
              <a:t>一句话诉求经路由进入正确插件，由 Agent 编排 Skills 形成可验证、可复用的工程交付</a:t>
            </a:r>
          </a:p>
        </p:txBody>
      </p:sp>
    </p:spTree>
    <p:extLst>
      <p:ext uri="{BB962C8B-B14F-4D97-AF65-F5344CB8AC3E}">
        <p14:creationId xmlns:p14="http://schemas.microsoft.com/office/powerpoint/2010/main" val="280203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2026-09-24T03:45:55.2250000Z</dcterms:created>
  <dcterms:modified xsi:type="dcterms:W3CDTF">2026-09-24T03:45:55.2250000Z</dcterms:modified>
</coreProperties>
</file>