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d04ef2b53a4567" /><Relationship Type="http://schemas.openxmlformats.org/officeDocument/2006/relationships/extended-properties" Target="/docProps/app.xml" Id="R7e11da37e4614d5b" /><Relationship Type="http://schemas.openxmlformats.org/officeDocument/2006/relationships/officeDocument" Target="/ppt/presentation.xml" Id="Rbbcd888ca26f40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ea89f62670462e"/>
  </p:sldMasterIdLst>
  <p:notesMasterIdLst>
    <p:notesMasterId xmlns:r="http://schemas.openxmlformats.org/officeDocument/2006/relationships" r:id="R0238f44f9b5043e9"/>
  </p:notesMasterIdLst>
  <p:sldIdLst>
    <p:sldId xmlns:r="http://schemas.openxmlformats.org/officeDocument/2006/relationships" id="256" r:id="R34bc9d08de434022"/>
    <p:sldId xmlns:r="http://schemas.openxmlformats.org/officeDocument/2006/relationships" id="257" r:id="R26fd34676ede4d2b"/>
    <p:sldId xmlns:r="http://schemas.openxmlformats.org/officeDocument/2006/relationships" id="258" r:id="Rd60a196551494e3d"/>
    <p:sldId xmlns:r="http://schemas.openxmlformats.org/officeDocument/2006/relationships" id="259" r:id="Rff9241ca17014053"/>
    <p:sldId xmlns:r="http://schemas.openxmlformats.org/officeDocument/2006/relationships" id="260" r:id="R09e2422f4b9d40e2"/>
    <p:sldId xmlns:r="http://schemas.openxmlformats.org/officeDocument/2006/relationships" id="261" r:id="R74a03a86c9f7416e"/>
    <p:sldId xmlns:r="http://schemas.openxmlformats.org/officeDocument/2006/relationships" id="262" r:id="Rad9b5d2f8b0746e4"/>
    <p:sldId xmlns:r="http://schemas.openxmlformats.org/officeDocument/2006/relationships" id="263" r:id="Rb36e545eed74476c"/>
    <p:sldId xmlns:r="http://schemas.openxmlformats.org/officeDocument/2006/relationships" id="264" r:id="Rc71858f327ed4c96"/>
    <p:sldId xmlns:r="http://schemas.openxmlformats.org/officeDocument/2006/relationships" id="265" r:id="Ra4ffbb55a8574b84"/>
    <p:sldId xmlns:r="http://schemas.openxmlformats.org/officeDocument/2006/relationships" id="266" r:id="R3a52d920e341426c"/>
    <p:sldId xmlns:r="http://schemas.openxmlformats.org/officeDocument/2006/relationships" id="267" r:id="Rf68d77390b534b74"/>
    <p:sldId xmlns:r="http://schemas.openxmlformats.org/officeDocument/2006/relationships" id="268" r:id="Rf39f6ea4b1df478e"/>
    <p:sldId xmlns:r="http://schemas.openxmlformats.org/officeDocument/2006/relationships" id="269" r:id="Rd2cee80d38a146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573f2d60934eeb" /><Relationship Type="http://schemas.openxmlformats.org/officeDocument/2006/relationships/slideMaster" Target="/ppt/slideMasters/slideMaster1.xml" Id="R19ea89f62670462e" /><Relationship Type="http://schemas.openxmlformats.org/officeDocument/2006/relationships/notesMaster" Target="/ppt/notesMasters/notesMaster1.xml" Id="R0238f44f9b5043e9" /><Relationship Type="http://schemas.openxmlformats.org/officeDocument/2006/relationships/presProps" Target="/ppt/presProps.xml" Id="R2f08ac508eb34452" /><Relationship Type="http://schemas.openxmlformats.org/officeDocument/2006/relationships/tableStyles" Target="/ppt/tableStyles.xml" Id="R32f139873b784eda" /><Relationship Type="http://schemas.openxmlformats.org/officeDocument/2006/relationships/slide" Target="/ppt/slides/slide1.xml" Id="R34bc9d08de434022" /><Relationship Type="http://schemas.openxmlformats.org/officeDocument/2006/relationships/slide" Target="/ppt/slides/slide2.xml" Id="R26fd34676ede4d2b" /><Relationship Type="http://schemas.openxmlformats.org/officeDocument/2006/relationships/slide" Target="/ppt/slides/slide3.xml" Id="Rd60a196551494e3d" /><Relationship Type="http://schemas.openxmlformats.org/officeDocument/2006/relationships/slide" Target="/ppt/slides/slide4.xml" Id="Rff9241ca17014053" /><Relationship Type="http://schemas.openxmlformats.org/officeDocument/2006/relationships/slide" Target="/ppt/slides/slide5.xml" Id="R09e2422f4b9d40e2" /><Relationship Type="http://schemas.openxmlformats.org/officeDocument/2006/relationships/slide" Target="/ppt/slides/slide6.xml" Id="R74a03a86c9f7416e" /><Relationship Type="http://schemas.openxmlformats.org/officeDocument/2006/relationships/slide" Target="/ppt/slides/slide7.xml" Id="Rad9b5d2f8b0746e4" /><Relationship Type="http://schemas.openxmlformats.org/officeDocument/2006/relationships/slide" Target="/ppt/slides/slide8.xml" Id="Rb36e545eed74476c" /><Relationship Type="http://schemas.openxmlformats.org/officeDocument/2006/relationships/slide" Target="/ppt/slides/slide9.xml" Id="Rc71858f327ed4c96" /><Relationship Type="http://schemas.openxmlformats.org/officeDocument/2006/relationships/slide" Target="/ppt/slides/slide10.xml" Id="Ra4ffbb55a8574b84" /><Relationship Type="http://schemas.openxmlformats.org/officeDocument/2006/relationships/slide" Target="/ppt/slides/slide11.xml" Id="R3a52d920e341426c" /><Relationship Type="http://schemas.openxmlformats.org/officeDocument/2006/relationships/slide" Target="/ppt/slides/slide12.xml" Id="Rf68d77390b534b74" /><Relationship Type="http://schemas.openxmlformats.org/officeDocument/2006/relationships/slide" Target="/ppt/slides/slide13.xml" Id="Rf39f6ea4b1df478e" /><Relationship Type="http://schemas.openxmlformats.org/officeDocument/2006/relationships/slide" Target="/ppt/slides/slide14.xml" Id="Rd2cee80d38a146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b4902ed65741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259ee94ab3426a" /><Relationship Type="http://schemas.openxmlformats.org/officeDocument/2006/relationships/notesMaster" Target="/ppt/notesMasters/notesMaster1.xml" Id="R43f4d7371a934d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a54d36295344c8" /><Relationship Type="http://schemas.openxmlformats.org/officeDocument/2006/relationships/notesMaster" Target="/ppt/notesMasters/notesMaster1.xml" Id="R0e5842e7808e43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17960810af4824" /><Relationship Type="http://schemas.openxmlformats.org/officeDocument/2006/relationships/notesMaster" Target="/ppt/notesMasters/notesMaster1.xml" Id="R3760e2afd86246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7bc5fe5501462e" /><Relationship Type="http://schemas.openxmlformats.org/officeDocument/2006/relationships/notesMaster" Target="/ppt/notesMasters/notesMaster1.xml" Id="R6adf1aa0f0404a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b597d1dcb14f5c" /><Relationship Type="http://schemas.openxmlformats.org/officeDocument/2006/relationships/notesMaster" Target="/ppt/notesMasters/notesMaster1.xml" Id="Rb42536c6a58d48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947b2052f2460d" /><Relationship Type="http://schemas.openxmlformats.org/officeDocument/2006/relationships/notesMaster" Target="/ppt/notesMasters/notesMaster1.xml" Id="Rff6a19e172f841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9417ed430f4f79" /><Relationship Type="http://schemas.openxmlformats.org/officeDocument/2006/relationships/notesMaster" Target="/ppt/notesMasters/notesMaster1.xml" Id="R67d6de63057a43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1a9e49f9024fd8" /><Relationship Type="http://schemas.openxmlformats.org/officeDocument/2006/relationships/notesMaster" Target="/ppt/notesMasters/notesMaster1.xml" Id="R6559625195f04d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347c77b7b24050" /><Relationship Type="http://schemas.openxmlformats.org/officeDocument/2006/relationships/notesMaster" Target="/ppt/notesMasters/notesMaster1.xml" Id="Rd8dc77c5d9e64d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d3252c898f4008" /><Relationship Type="http://schemas.openxmlformats.org/officeDocument/2006/relationships/notesMaster" Target="/ppt/notesMasters/notesMaster1.xml" Id="Rbb3fc25651ed42c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b2198de07e402e" /><Relationship Type="http://schemas.openxmlformats.org/officeDocument/2006/relationships/notesMaster" Target="/ppt/notesMasters/notesMaster1.xml" Id="Rc8c4ec7f574f4c8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549d4227f634c4e" /><Relationship Type="http://schemas.openxmlformats.org/officeDocument/2006/relationships/notesMaster" Target="/ppt/notesMasters/notesMaster1.xml" Id="Re6718b9a6a6b465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860078a4f1742fc" /><Relationship Type="http://schemas.openxmlformats.org/officeDocument/2006/relationships/notesMaster" Target="/ppt/notesMasters/notesMaster1.xml" Id="Rde0f47bc25484fa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4723acf197341db" /><Relationship Type="http://schemas.openxmlformats.org/officeDocument/2006/relationships/notesMaster" Target="/ppt/notesMasters/notesMaster1.xml" Id="Rabbcccb6684f44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各位同事，大家好。今天介绍 MindSpeed-Agent。我们关注的不是一个简单问答工具，而是一套把昇腾研发经验组织成可执行能力的工程体系。后面会从问题、架构、典型流程和实际使用四个方面展开。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资料依据：README.md；AGENTS.md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先从研发痛点切入。模型迁移、推理优化或算子开发都不是单点问题，它们会跨越分析、实现、测试和验收。MindSpeed-Agent 的目标，是降低入口判断成本，把长流程组织起来，并尽量让结论有真实证据。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资料依据：README.md；docs/ARCHITECTURE.md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MindSpeed-Agent 的准确定位，是一个智能体能力仓库，而不是单一模型或单一聊天机器人。当前代码快照中包含 63 个 SKILL.md、7 个 Marketplace 插件、13 个 Catalog 生态对象和 9 类任务维度。这些数字会随仓库演进，本页用于说明当前规模。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资料依据：README.md；catalog/repos.yaml；catalog/plugins.yaml；catalog/task-kinds.yaml；本地目录统计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三层架构是理解整个仓库的关键。Skill 是最小知识单元。Agent 代表职责明确的研发角色。Plugin 把多个角色和技能编排成完整应用。这样的解耦让同一个 Skill 可以被不同角色复用，也让工作流可以持续演进。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资料依据：AGENTS.md；README.md；docs/ARCHITECTURE.md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 插件中的 ecosystem-routing 是统一入口。它先根据别名表确定目标仓库，再识别任务维度，随后组合 repo、plugin、agent 和 skill 链路。用户只说“优化”时，系统不会自行选择训练性能、模型迁移或精度对齐，而是先展示候选方向。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资料依据：skills/common/common/ecosystem-routing/SKILL.md；catalog/repos.yaml；catalog/plugins.yaml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仓库采用 Core 加领域 Unit 的安装架构。默认只加载路由和知识图谱。命中训练、推理、算子或资料任务后，再安装相应领域插件并新开会话。这样既减少无关 Skill 占用上下文，也让插件边界更清楚。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资料依据：README.md；docs/install-on-demand-design.md；catalog/plugins.yaml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能力版图可以分成六个主要方向。训练侧关注 MindSpeed-LLM。推理侧围绕 vLLM Ascend。算子侧覆盖设计、实现和优化。仓库级迁移处理更大的代码范围。VeOmni 插件覆盖模型接入闭环。Doc Agent 处理资料生成和质量审查。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资料依据：README.md；catalog/plugins.yaml；.claude-plugin/marketplace.json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推理优化插件最能体现工作流价值。Architect 先给出模型分析和并行建议。Developer 拉起服务。Tester 采集基线并寻优，必要时要求重启服务。Reviewer 对最优配置采集 Profiling，识别计算、通信、调度或内存瓶颈，并可以让 Tester 继续验证。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资料依据：plugins/inference-model-optimize/workflows/optimize-pipeline.yaml；docs/ARCHITECTURE.md；catalog/plugins.yaml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算子插件按照设计、实现、优化三个阶段执行。设计阶段明确接口、Shape 范围、Tiling 策略和风险。实现阶段完成代码和测试用例。优化阶段根据 Profiling 数据调整访存、并行度和核函数结构。相比一次性生成代码，这种方式更接近真实的算子工程。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资料依据：plugins/ops/ops.yaml；plugins/ops/README.md；catalog/plugins.yaml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仓库级迁移与推理优化不同。它没有把所有项目强制放入同一个固定状态机，而是由 goal 入口理解目标仓和迁移范围，再按需组合环境、特性分析、资源检查、修复、报告等专项 Skill。真实命令、日志和测试结果是迁移结论的依据。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资料依据：README.md；docs/ecosystem-code-repository-npu-migration.md；catalog/plugins.yaml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MindSpeed-Agent 的工程化特点包括确定性路由、显式状态机、结构化 Handoff、证据驱动以及过程可恢复。目标不是让模型自由发挥得更多，而是让关键流程和结论更容易验证。不同插件会根据任务性质选择状态机或自适应协作。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资料依据：skills/common/common/ecosystem-routing/SKILL.md；plugins/inference-model-optimize/workflows/optimize-pipeline.yaml；plugins/doc-agent/DESIGN.md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上手过程可以概括为四步。先安装 Core，再用自然语言描述目标。路由命中领域后安装相应 Unit，随后新开会话加载新的 Skill。可以用 install-unit.py status 检查各 Unit 的安装状态。具体命令需要根据 Claude Code、Codex 或 DSH 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资料依据：README.md；docs/install-on-demand-design.md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贡献 Skill 时，不要从“大而全”的主题开始，而要从边界清晰、可以验证的问题开始。触发描述决定系统什么时候加载 Skill。正文要写明操作步骤、决策条件、异常处理和验收方法。目录名、name 和分类字段必须符合仓库规范。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资料依据：CONTRIBUTING.md；AGENTS.md；docs/skill-template/SKILL.md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最后总结，MindSpeed-Agent 的价值不在于替代工程师，而在于让入口选择、标准流程和证据收集更高效。工程师仍然负责需求取舍、架构判断和最终验收。通过知识图谱、Plugin、Agent 和 Skill，我们可以把个人经验沉淀成团队可复用的工程资产。谢谢大家。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资料依据：README.md；AGENTS.md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75eef9131741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2a82ffcac049b1" /><Relationship Type="http://schemas.openxmlformats.org/officeDocument/2006/relationships/slideLayout" Target="/ppt/slideLayouts/slideLayout1.xml" Id="Rfd8eab31261840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8eab31261840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fb03eb9b943f9" /><Relationship Type="http://schemas.openxmlformats.org/officeDocument/2006/relationships/notesSlide" Target="/ppt/notesSlides/notesSlide1.xml" Id="Rb119f2dfe4cb4f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232b042fc34865" /><Relationship Type="http://schemas.openxmlformats.org/officeDocument/2006/relationships/notesSlide" Target="/ppt/notesSlides/notesSlide2.xml" Id="Rbeec831750ef4b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8580b94794bc0" /><Relationship Type="http://schemas.openxmlformats.org/officeDocument/2006/relationships/notesSlide" Target="/ppt/notesSlides/notesSlide3.xml" Id="R82a31841f18a49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054a111084342" /><Relationship Type="http://schemas.openxmlformats.org/officeDocument/2006/relationships/notesSlide" Target="/ppt/notesSlides/notesSlide4.xml" Id="R9d0c642c91ea4d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171dcb82f84bd9" /><Relationship Type="http://schemas.openxmlformats.org/officeDocument/2006/relationships/notesSlide" Target="/ppt/notesSlides/notesSlide5.xml" Id="R842bc86cc8d541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9525d73ff4a85" /><Relationship Type="http://schemas.openxmlformats.org/officeDocument/2006/relationships/notesSlide" Target="/ppt/notesSlides/notesSlide6.xml" Id="R6117cecaebe647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e75b42aa44b7d" /><Relationship Type="http://schemas.openxmlformats.org/officeDocument/2006/relationships/notesSlide" Target="/ppt/notesSlides/notesSlide7.xml" Id="Rc6bc1c66d19f4b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724827e1548c4" /><Relationship Type="http://schemas.openxmlformats.org/officeDocument/2006/relationships/notesSlide" Target="/ppt/notesSlides/notesSlide8.xml" Id="Rb9af8f6116f149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d63cc987c49c6" /><Relationship Type="http://schemas.openxmlformats.org/officeDocument/2006/relationships/notesSlide" Target="/ppt/notesSlides/notesSlide9.xml" Id="R8b514d86f85042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2d5a80bbd41fb" /><Relationship Type="http://schemas.openxmlformats.org/officeDocument/2006/relationships/notesSlide" Target="/ppt/notesSlides/notesSlide10.xml" Id="Rff390f40b0db4a6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71398e2014f37" /><Relationship Type="http://schemas.openxmlformats.org/officeDocument/2006/relationships/notesSlide" Target="/ppt/notesSlides/notesSlide11.xml" Id="R4b5c3ff5b1d3430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40b028f8a4a0b" /><Relationship Type="http://schemas.openxmlformats.org/officeDocument/2006/relationships/notesSlide" Target="/ppt/notesSlides/notesSlide12.xml" Id="R02d4d88f7d2445f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46866fa644092" /><Relationship Type="http://schemas.openxmlformats.org/officeDocument/2006/relationships/notesSlide" Target="/ppt/notesSlides/notesSlide13.xml" Id="Rcb16e5fdc98d428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c708b8ecd4e03" /><Relationship Type="http://schemas.openxmlformats.org/officeDocument/2006/relationships/notesSlide" Target="/ppt/notesSlides/notesSlide14.xml" Id="Rd47d06815c264d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4269B-3AA8-4A5C-B788-472DFA47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E3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BC76B-91E6-46C8-BE20-01461B8F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49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MindSpeed-Agent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0672D-715E-419C-8354-E8D6F570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43E3F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0">
                <a:solidFill>
                  <a:srgbClr val="43E3FF"/>
                </a:solidFill>
                <a:latin typeface="Noto Sans SC"/>
                <a:ea typeface="Noto Sans SC"/>
                <a:cs typeface="Noto Sans SC"/>
              </a:rPr>
              <a:t>让昇腾开发经验成为可复用的智能体能力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6B280-3F16-440F-A1C6-AF0A60ED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BED3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9BED3"/>
                </a:solidFill>
                <a:latin typeface="Noto Sans SC"/>
                <a:ea typeface="Noto Sans SC"/>
                <a:cs typeface="Noto Sans SC"/>
              </a:rPr>
              <a:t>MindSpeed / 昇腾 NPU 开发赋能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8A60E-C5E7-4E61-BCA5-A08C9C68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Plugin  ·  Agent  · 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3852C4-5AC6-4415-A0F0-476895EA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293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9BED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A9BED3"/>
                </a:solidFill>
                <a:latin typeface="Noto Sans SC"/>
                <a:ea typeface="Noto Sans SC"/>
                <a:cs typeface="Noto Sans SC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5821459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4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EEC6ED-9867-479D-BBF2-6FD76C91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E3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43E3FF"/>
                </a:solidFill>
                <a:latin typeface="Noto Sans SC"/>
                <a:ea typeface="Noto Sans SC"/>
                <a:cs typeface="Noto Sans SC"/>
              </a:rPr>
              <a:t>01 研发背景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FC7A6-DFBC-454A-9A6C-28200711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昇腾研发任务为什么适合智能体协作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DB35E-44A5-40C6-9B06-A7AA71A6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D4B6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04971-C1C6-4696-A1EB-20845672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ED3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A9BED3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38770B-2A14-4422-9B2F-0D2A95C5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609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一次完整任务往往跨越多个专业环节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80FCF1-8A9B-4401-96C5-63F118FE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1619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C2138"/>
          </a:solidFill>
          <a:ln xmlns:a="http://schemas.openxmlformats.org/drawingml/2006/main" w="11430">
            <a:solidFill>
              <a:srgbClr val="4E8B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模型迁移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3C628-2089-4903-AD33-E8EE02B8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86000"/>
            <a:ext cx="1619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C2138"/>
          </a:solidFill>
          <a:ln xmlns:a="http://schemas.openxmlformats.org/drawingml/2006/main" w="11430">
            <a:solidFill>
              <a:srgbClr val="9B7B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环境部署</a:t>
            </a:r>
          </a:p>
        </p:txBody>
      </p: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66950" y="26384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B7BFF"/>
            </a:solidFill>
            <a:prstDash val="soli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E99056-0E1C-4D5B-8F90-CF8B2604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86000"/>
            <a:ext cx="1619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C2138"/>
          </a:solidFill>
          <a:ln xmlns:a="http://schemas.openxmlformats.org/drawingml/2006/main" w="11430">
            <a:solidFill>
              <a:srgbClr val="5BE6A2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精度验证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343400" y="26384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E6A2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957C3B-CF43-4260-856A-32167341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86000"/>
            <a:ext cx="1619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C2138"/>
          </a:solidFill>
          <a:ln xmlns:a="http://schemas.openxmlformats.org/drawingml/2006/main" w="11430">
            <a:solidFill>
              <a:srgbClr val="FFB8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性能优化</a:t>
            </a:r>
          </a:p>
        </p:txBody>
      </p:sp>
      <p:cxnSp>
        <p:nvCxnSpPr>
          <p:cNvPr id="28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419850" y="26384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B85C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ADD488-3390-497B-8901-5F0BC24C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86000"/>
            <a:ext cx="1619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C2138"/>
          </a:solidFill>
          <a:ln xmlns:a="http://schemas.openxmlformats.org/drawingml/2006/main" w="11430">
            <a:solidFill>
              <a:srgbClr val="43E3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结果交付</a:t>
            </a:r>
          </a:p>
        </p:txBody>
      </p:sp>
      <p:cxnSp>
        <p:nvCxnSpPr>
          <p:cNvPr id="30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496300" y="26384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E3FF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262421-273E-4718-9A5E-071DE18D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718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3E3F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43E3FF"/>
                </a:solidFill>
                <a:latin typeface="Noto Sans SC"/>
                <a:ea typeface="Noto Sans SC"/>
                <a:cs typeface="Noto Sans SC"/>
              </a:rPr>
              <a:t>四个常见障碍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15753E-8861-4174-81F9-00728AD8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047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54000" indent="-127000" algn="l">
              <a:spcAft>
                <a:spcPts val="1100"/>
              </a:spcAft>
              <a:buChar char="•"/>
              <a:defRPr sz="18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t>入口复杂：训练、推理、运行时和算子工具边界不同</a:t>
            </a:r>
          </a:p>
          <a:p xmlns:a="http://schemas.openxmlformats.org/drawingml/2006/main">
            <a:pPr marL="254000" indent="-127000" algn="l">
              <a:spcAft>
                <a:spcPts val="1100"/>
              </a:spcAft>
              <a:buChar char="•"/>
              <a:defRPr sz="18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t>流程很长：任务容易中断，过程信息容易丢失</a:t>
            </a:r>
          </a:p>
          <a:p xmlns:a="http://schemas.openxmlformats.org/drawingml/2006/main">
            <a:pPr marL="254000" indent="-127000" algn="l">
              <a:spcAft>
                <a:spcPts val="1100"/>
              </a:spcAft>
              <a:buChar char="•"/>
              <a:defRPr sz="18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t>经验分散：关键判断依赖少数领域专家</a:t>
            </a:r>
          </a:p>
          <a:p xmlns:a="http://schemas.openxmlformats.org/drawingml/2006/main">
            <a:pPr marL="254000" indent="-127000" algn="l">
              <a:spcAft>
                <a:spcPts val="1100"/>
              </a:spcAft>
              <a:buChar char="•"/>
              <a:defRPr sz="18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t>证据不足：建议必须由命令、日志和测试结果支撑</a:t>
            </a:r>
          </a:p>
        </p:txBody>
      </p:sp>
    </p:spTree>
    <p:extLst>
      <p:ext uri="{BB962C8B-B14F-4D97-AF65-F5344CB8AC3E}">
        <p14:creationId xmlns:p14="http://schemas.microsoft.com/office/powerpoint/2010/main" val="10268662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4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CCBAE0-F53B-4D63-BCF2-9E97166F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E3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43E3FF"/>
                </a:solidFill>
                <a:latin typeface="Noto Sans SC"/>
                <a:ea typeface="Noto Sans SC"/>
                <a:cs typeface="Noto Sans SC"/>
              </a:rPr>
              <a:t>02 项目概览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6B5C5-DA3D-4C5D-ABA2-3D665517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MindSpeed-Agent 的定位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BFB2C0-6B57-4F97-AEDA-C44C3785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D4B6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243B2-A4DA-4619-A9D6-A641479A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ED3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A9BED3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2C082E-1A4C-4BFF-8663-A3B3E033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面向 MindSpeed 与昇腾 NPU 的智能体插件和技能仓库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5D256C-06C6-4948-9965-8A3C5D6E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9BED3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A9BED3"/>
                </a:solidFill>
                <a:latin typeface="Noto Sans SC"/>
                <a:ea typeface="Noto Sans SC"/>
                <a:cs typeface="Noto Sans SC"/>
              </a:rPr>
              <a:t>把专家经验组织成可选择、可执行、可验证的工程能力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CA6C19-03C3-4EEF-A065-1BEC0B77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43E3FF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43E3FF"/>
                </a:solidFill>
                <a:latin typeface="Noto Sans SC"/>
                <a:ea typeface="Noto Sans SC"/>
                <a:cs typeface="Noto Sans SC"/>
              </a:rPr>
              <a:t>63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EF9FAD-3AF9-497C-AC80-B533D9D5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Skill 文件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4A71B-3D78-4EBB-8770-C5765820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432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9B7BFF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9B7BFF"/>
                </a:solidFill>
                <a:latin typeface="Noto Sans SC"/>
                <a:ea typeface="Noto Sans SC"/>
                <a:cs typeface="Noto Sans SC"/>
              </a:rPr>
              <a:t>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00409E-42CA-4EED-82EA-B3F668DD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0005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Marketplace 插件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D7E86A-495B-479A-9DBB-48F018B0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432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5BE6A2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5BE6A2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385CF-9FF3-418E-ADBD-2F6950BC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生态对象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35F324-6C34-4AB3-AC26-AD12B2D9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432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FFB85C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FB85C"/>
                </a:solidFill>
                <a:latin typeface="Noto Sans SC"/>
                <a:ea typeface="Noto Sans SC"/>
                <a:cs typeface="Noto Sans SC"/>
              </a:rPr>
              <a:t>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A5304C-D8A8-40DB-9226-76F4F6E6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005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任务类型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B795F5-C655-456C-9206-D2BCE4E3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ED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A9BED3"/>
                </a:solidFill>
                <a:latin typeface="Noto Sans SC"/>
                <a:ea typeface="Noto Sans SC"/>
                <a:cs typeface="Noto Sans SC"/>
              </a:rPr>
              <a:t>当前代码快照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BF245C-301D-4FE5-9027-31C4E313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能力覆盖训练迁移、推理优化、算子开发、仓库迁移、VeOmni 接入和资料治理</a:t>
            </a:r>
          </a:p>
        </p:txBody>
      </p:sp>
    </p:spTree>
    <p:extLst>
      <p:ext uri="{BB962C8B-B14F-4D97-AF65-F5344CB8AC3E}">
        <p14:creationId xmlns:p14="http://schemas.microsoft.com/office/powerpoint/2010/main" val="19829732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4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8CA456-B553-4238-BF6B-4FFE7C37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E3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43E3FF"/>
                </a:solidFill>
                <a:latin typeface="Noto Sans SC"/>
                <a:ea typeface="Noto Sans SC"/>
                <a:cs typeface="Noto Sans SC"/>
              </a:rPr>
              <a:t>03 架构设计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325C2-8AD0-4284-93FA-CCD3DEED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Plugin / Agent / Skill 三层架构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F22B4-2604-46E2-87A0-101F54CD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D4B6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885FC-14B2-4BEB-97BC-616DB649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ED3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A9BED3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C6ADE2-2F5B-4636-A413-8DDAE1ED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10439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2B4A"/>
          </a:solidFill>
          <a:ln xmlns:a="http://schemas.openxmlformats.org/drawingml/2006/main" w="11430">
            <a:solidFill>
              <a:srgbClr val="9B7B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76255-80AB-4D3D-8548-014407F7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85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PLUGIN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AB75D-4792-4EB8-B4D3-EEE804EB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479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B7B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9B7BFF"/>
                </a:solidFill>
                <a:latin typeface="Noto Sans SC"/>
                <a:ea typeface="Noto Sans SC"/>
                <a:cs typeface="Noto Sans SC"/>
              </a:rPr>
              <a:t>应用编排层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FE4474-F923-453A-80DA-64F5898F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8120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组合工作流，定义状态、门禁、角色和交付物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B705A2-4623-4457-B2BE-38232D12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10439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13B4B"/>
          </a:solidFill>
          <a:ln xmlns:a="http://schemas.openxmlformats.org/drawingml/2006/main" w="11430">
            <a:solidFill>
              <a:srgbClr val="43E3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9FF2CE-A95C-43A2-B078-0AF52CBD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575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D3A9E-F1D3-4D17-879E-B3082C1F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195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3E3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43E3FF"/>
                </a:solidFill>
                <a:latin typeface="Noto Sans SC"/>
                <a:ea typeface="Noto Sans SC"/>
                <a:cs typeface="Noto Sans SC"/>
              </a:rPr>
              <a:t>角色执行层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1F91D7-788E-4465-A419-989B15DB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5280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承担明确职责，选择并调用所需技能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C3DB62-ADD7-4073-A02F-88186401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10439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4382D"/>
          </a:solidFill>
          <a:ln xmlns:a="http://schemas.openxmlformats.org/drawingml/2006/main" w="11430">
            <a:solidFill>
              <a:srgbClr val="5BE6A2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A1979A-FD8C-4C76-A58C-23933FD0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291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SKILL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DC371B-B19A-4C80-A23D-55225492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911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E6A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5BE6A2"/>
                </a:solidFill>
                <a:latin typeface="Noto Sans SC"/>
                <a:ea typeface="Noto Sans SC"/>
                <a:cs typeface="Noto Sans SC"/>
              </a:rPr>
              <a:t>知识能力层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1239CC-BE4B-4D64-8769-40FD0420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2440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沉淀触发条件、操作步骤、异常处理和验收方法</a:t>
            </a:r>
          </a:p>
        </p:txBody>
      </p:sp>
      <p:cxnSp>
        <p:nvCxnSpPr>
          <p:cNvPr id="36" name=""/>
          <p:cNvCxnSpPr>
            <a:stCxn xmlns:a="http://schemas.openxmlformats.org/drawingml/2006/main" id="5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096000" y="27051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B7BFF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9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6096000" y="40767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E3FF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108A90-6D19-4468-B8B4-3103FEF1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6959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BE6A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E6A2"/>
                </a:solidFill>
                <a:latin typeface="Noto Sans SC"/>
                <a:ea typeface="Noto Sans SC"/>
                <a:cs typeface="Noto Sans SC"/>
              </a:rPr>
              <a:t>能力复用</a:t>
            </a:r>
          </a:p>
        </p:txBody>
      </p:sp>
    </p:spTree>
    <p:extLst>
      <p:ext uri="{BB962C8B-B14F-4D97-AF65-F5344CB8AC3E}">
        <p14:creationId xmlns:p14="http://schemas.microsoft.com/office/powerpoint/2010/main" val="4901382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4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E12FDA-8227-4D3C-B98D-22892712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E3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43E3FF"/>
                </a:solidFill>
                <a:latin typeface="Noto Sans SC"/>
                <a:ea typeface="Noto Sans SC"/>
                <a:cs typeface="Noto Sans SC"/>
              </a:rPr>
              <a:t>04 路由入口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C48041-D0EC-447F-A859-4DE81702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生态知识图谱与意图路由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02230-E3C0-4894-B5C8-BCB69FE2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D4B6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296E7-B3D7-481B-B37D-3229D446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ED3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A9BED3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0EA2B-457E-47FF-8DD6-FB61AED9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用户只需描述目标，Core 负责找到正确的仓库和执行链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C8A28-92B8-4AE6-9A5C-D9055283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1905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C2138"/>
          </a:solidFill>
          <a:ln xmlns:a="http://schemas.openxmlformats.org/drawingml/2006/main" w="11430">
            <a:solidFill>
              <a:srgbClr val="43E3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自然语言</a:t>
            </a:r>
          </a:p>
          <a:p xmlns:a="http://schemas.openxmlformats.org/drawingml/2006/main">
            <a:pPr algn="ctr">
              <a:defRPr sz="157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“优化 MindSpeed-LLM 模型”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A5349-2017-4677-9B40-5A59A9C0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571750"/>
            <a:ext cx="1905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C2138"/>
          </a:solidFill>
          <a:ln xmlns:a="http://schemas.openxmlformats.org/drawingml/2006/main" w="11430">
            <a:solidFill>
              <a:srgbClr val="4E8B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目标仓库</a:t>
            </a:r>
          </a:p>
          <a:p xmlns:a="http://schemas.openxmlformats.org/drawingml/2006/main">
            <a:pPr algn="ctr">
              <a:def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MindSpeed-LLM</a:t>
            </a:r>
          </a:p>
        </p:txBody>
      </p:sp>
      <p:cxnSp>
        <p:nvCxnSpPr>
          <p:cNvPr id="2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00300" y="31051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E8BFF"/>
            </a:solidFill>
            <a:prstDash val="soli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531477-D1B1-4D4D-89D3-711F1AB8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71750"/>
            <a:ext cx="1905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C2138"/>
          </a:solidFill>
          <a:ln xmlns:a="http://schemas.openxmlformats.org/drawingml/2006/main" w="11430">
            <a:solidFill>
              <a:srgbClr val="FFB8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任务类型</a:t>
            </a:r>
          </a:p>
          <a:p xmlns:a="http://schemas.openxmlformats.org/drawingml/2006/main">
            <a:pPr algn="ctr">
              <a:def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迁移 / 精度 / 性能</a:t>
            </a:r>
          </a:p>
        </p:txBody>
      </p: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733925" y="31051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B85C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889D3F-CAF0-420A-94A7-67EC34D7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571750"/>
            <a:ext cx="1905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C2138"/>
          </a:solidFill>
          <a:ln xmlns:a="http://schemas.openxmlformats.org/drawingml/2006/main" w="11430">
            <a:solidFill>
              <a:srgbClr val="9B7B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领域插件</a:t>
            </a:r>
          </a:p>
          <a:p xmlns:a="http://schemas.openxmlformats.org/drawingml/2006/main">
            <a:pPr algn="ctr">
              <a:def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mindspeed-llm</a:t>
            </a:r>
          </a:p>
        </p:txBody>
      </p:sp>
      <p:cxnSp>
        <p:nvCxnSpPr>
          <p:cNvPr id="32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067550" y="31051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B7BFF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B1C946-E9C3-4F71-8B74-1BAFBED2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71750"/>
            <a:ext cx="1905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C2138"/>
          </a:solidFill>
          <a:ln xmlns:a="http://schemas.openxmlformats.org/drawingml/2006/main" w="11430">
            <a:solidFill>
              <a:srgbClr val="5BE6A2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执行入口</a:t>
            </a:r>
          </a:p>
          <a:p xmlns:a="http://schemas.openxmlformats.org/drawingml/2006/main">
            <a:pPr algn="ctr">
              <a:def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Agent / Skill</a:t>
            </a:r>
          </a:p>
        </p:txBody>
      </p:sp>
      <p:cxnSp>
        <p:nvCxnSpPr>
          <p:cNvPr id="34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401175" y="31051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E6A2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0B3D50-E669-46A4-8F62-59C07D09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E8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4E8BFF"/>
                </a:solidFill>
                <a:latin typeface="Noto Sans SC"/>
                <a:ea typeface="Noto Sans SC"/>
                <a:cs typeface="Noto Sans SC"/>
              </a:rPr>
              <a:t>R1 仓库消歧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43BB85-CEBA-4359-9B00-F9C1973D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57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B85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FB85C"/>
                </a:solidFill>
                <a:latin typeface="Noto Sans SC"/>
                <a:ea typeface="Noto Sans SC"/>
                <a:cs typeface="Noto Sans SC"/>
              </a:rPr>
              <a:t>R2 任务维度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D4D0C2-BCF3-42C3-8508-CA1AF733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57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9B7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9B7BFF"/>
                </a:solidFill>
                <a:latin typeface="Noto Sans SC"/>
                <a:ea typeface="Noto Sans SC"/>
                <a:cs typeface="Noto Sans SC"/>
              </a:rPr>
              <a:t>R3 链路组装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BFBE2D-22C4-4C68-91E9-051ECF7B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57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BE6A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5BE6A2"/>
                </a:solidFill>
                <a:latin typeface="Noto Sans SC"/>
                <a:ea typeface="Noto Sans SC"/>
                <a:cs typeface="Noto Sans SC"/>
              </a:rPr>
              <a:t>R4 歧义确认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636EF0-AD41-4A07-845C-4BFCDFC5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4577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3E3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43E3FF"/>
                </a:solidFill>
                <a:latin typeface="Noto Sans SC"/>
                <a:ea typeface="Noto Sans SC"/>
                <a:cs typeface="Noto Sans SC"/>
              </a:rPr>
              <a:t>R5 语义兜底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A63409-6044-4585-AF9C-B4DAC967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768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存在歧义时先确认，不静默猜测</a:t>
            </a:r>
          </a:p>
        </p:txBody>
      </p:sp>
    </p:spTree>
    <p:extLst>
      <p:ext uri="{BB962C8B-B14F-4D97-AF65-F5344CB8AC3E}">
        <p14:creationId xmlns:p14="http://schemas.microsoft.com/office/powerpoint/2010/main" val="20348006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4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CFB282-6755-4FD9-A934-3531AEF8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E3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43E3FF"/>
                </a:solidFill>
                <a:latin typeface="Noto Sans SC"/>
                <a:ea typeface="Noto Sans SC"/>
                <a:cs typeface="Noto Sans SC"/>
              </a:rPr>
              <a:t>05 使用架构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1FDE6-E7B7-46EE-BF8E-DEF8CD4F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Core 加领域 Unit 的按需安装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917BD-D5C6-4E0F-B69C-7EEA01C4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D4B6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D2BAD-48A1-438B-B3E6-2F56B525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ED3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A9BED3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EAC8A-DE8C-47ED-AF74-0E5B53AF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2857500" cy="25908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12384A"/>
          </a:solidFill>
          <a:ln xmlns:a="http://schemas.openxmlformats.org/drawingml/2006/main" w="11430">
            <a:solidFill>
              <a:srgbClr val="43E3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CORE</a:t>
            </a:r>
          </a:p>
          <a:p xmlns:a="http://schemas.openxmlformats.org/drawingml/2006/main">
            <a:pPr algn="ctr">
              <a:defRPr sz="232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生态路由 + Catalog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6D078-FB51-4A73-A56F-8FB69008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0535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3E3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3E3FF"/>
                </a:solidFill>
                <a:latin typeface="Noto Sans SC"/>
                <a:ea typeface="Noto Sans SC"/>
                <a:cs typeface="Noto Sans SC"/>
              </a:rPr>
              <a:t>默认安装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840A2-573D-41FD-96B6-8F495621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14500"/>
            <a:ext cx="5524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C2138"/>
          </a:solidFill>
          <a:ln xmlns:a="http://schemas.openxmlformats.org/drawingml/2006/main" w="11430">
            <a:solidFill>
              <a:srgbClr val="4E8B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mindspeed-llm</a:t>
            </a:r>
          </a:p>
          <a:p xmlns:a="http://schemas.openxmlformats.org/drawingml/2006/main">
            <a:pPr algn="ctr">
              <a:defRPr sz="165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训练迁移与验证</a:t>
            </a:r>
          </a:p>
        </p:txBody>
      </p: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600450" y="2105025"/>
            <a:ext cx="1638300" cy="1133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E8BFF"/>
            </a:solidFill>
            <a:prstDash val="soli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F9AC9-28FD-488C-B249-CF1B78EE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43200"/>
            <a:ext cx="5524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C2138"/>
          </a:solidFill>
          <a:ln xmlns:a="http://schemas.openxmlformats.org/drawingml/2006/main" w="11430">
            <a:solidFill>
              <a:srgbClr val="9B7B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inference-model-optimize</a:t>
            </a:r>
          </a:p>
          <a:p xmlns:a="http://schemas.openxmlformats.org/drawingml/2006/main">
            <a:pPr algn="ctr">
              <a:defRPr sz="165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推理部署与性能</a:t>
            </a:r>
          </a:p>
        </p:txBody>
      </p:sp>
      <p:cxnSp>
        <p:nvCxnSpPr>
          <p:cNvPr id="25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3600450" y="3133725"/>
            <a:ext cx="1638300" cy="1047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B7BFF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FF78F2-CAA7-4100-9AE2-4BC88121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71900"/>
            <a:ext cx="5524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C2138"/>
          </a:solidFill>
          <a:ln xmlns:a="http://schemas.openxmlformats.org/drawingml/2006/main" w="11430">
            <a:solidFill>
              <a:srgbClr val="FFB8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ops</a:t>
            </a:r>
          </a:p>
          <a:p xmlns:a="http://schemas.openxmlformats.org/drawingml/2006/main">
            <a:pPr algn="ctr">
              <a:defRPr sz="165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算子设计与优化</a:t>
            </a:r>
          </a:p>
        </p:txBody>
      </p:sp>
      <p:cxnSp>
        <p:nvCxnSpPr>
          <p:cNvPr id="27" name=""/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600450" y="3238500"/>
            <a:ext cx="1638300" cy="923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FB85C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B0DA79-8A94-4DCC-AE6E-5A7D119E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800600"/>
            <a:ext cx="5524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C2138"/>
          </a:solidFill>
          <a:ln xmlns:a="http://schemas.openxmlformats.org/drawingml/2006/main" w="11430">
            <a:solidFill>
              <a:srgbClr val="5BE6A2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doc-agent</a:t>
            </a:r>
          </a:p>
          <a:p xmlns:a="http://schemas.openxmlformats.org/drawingml/2006/main">
            <a:pPr algn="ctr">
              <a:defRPr sz="165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资料生成与审查</a:t>
            </a:r>
          </a:p>
        </p:txBody>
      </p: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600450" y="3238500"/>
            <a:ext cx="1638300" cy="1952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BE6A2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40DA49-749A-47E7-9953-6B168605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953125"/>
            <a:ext cx="695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A9BED3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A9BED3"/>
                </a:solidFill>
                <a:latin typeface="Noto Sans SC"/>
                <a:ea typeface="Noto Sans SC"/>
                <a:cs typeface="Noto Sans SC"/>
              </a:rPr>
              <a:t>命中领域后再加载，减少无关上下文</a:t>
            </a:r>
          </a:p>
        </p:txBody>
      </p:sp>
    </p:spTree>
    <p:extLst>
      <p:ext uri="{BB962C8B-B14F-4D97-AF65-F5344CB8AC3E}">
        <p14:creationId xmlns:p14="http://schemas.microsoft.com/office/powerpoint/2010/main" val="9700755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4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4DB463-5948-4B8B-90C6-2E07BAF7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E3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43E3FF"/>
                </a:solidFill>
                <a:latin typeface="Noto Sans SC"/>
                <a:ea typeface="Noto Sans SC"/>
                <a:cs typeface="Noto Sans SC"/>
              </a:rPr>
              <a:t>06 领域能力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7CF84-1B09-4732-B0F0-58E9B156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能力版图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126B07-06BC-408E-8389-43D39E06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D4B6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A9B69-3D2E-4465-8EB2-094F1039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ED3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A9BED3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C9B0C-7631-4BBB-9286-C80B5FFA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B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72C20-1900-4706-B748-E502C7C9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573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E8BFF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4E8BFF"/>
                </a:solidFill>
                <a:latin typeface="Noto Sans SC"/>
                <a:ea typeface="Noto Sans SC"/>
                <a:cs typeface="Noto Sans SC"/>
              </a:rPr>
              <a:t>LLM 训练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AD71DB-0AF0-4D22-80E4-6FAAB76A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85975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模型迁移、FSDP2、精度、训练验证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F9F31F-7049-4CB8-BF7B-C787DA14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202CD7-7B70-4472-9A5E-82EA1B1C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9B7BFF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9B7BFF"/>
                </a:solidFill>
                <a:latin typeface="Noto Sans SC"/>
                <a:ea typeface="Noto Sans SC"/>
                <a:cs typeface="Noto Sans SC"/>
              </a:rPr>
              <a:t>推理优化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1D1D49-5451-4E33-BBCB-5714B0AB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14725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部署、显存分析、Benchmark、寻优、Profiling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7D90D8-B10B-4E42-96F1-5A0AD9D3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5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2246C-D15D-49C3-8D52-4D773249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B85C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FFB85C"/>
                </a:solidFill>
                <a:latin typeface="Noto Sans SC"/>
                <a:ea typeface="Noto Sans SC"/>
                <a:cs typeface="Noto Sans SC"/>
              </a:rPr>
              <a:t>算子开发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F128E5-2CF2-4F73-9220-ED79241A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43475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详设、实现、精度测试、性能优化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4A4A4B-B0B4-455B-83D2-8092D446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5735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E3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FFAB29-4CEA-405B-959E-F4E9D17E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573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3E3FF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43E3FF"/>
                </a:solidFill>
                <a:latin typeface="Noto Sans SC"/>
                <a:ea typeface="Noto Sans SC"/>
                <a:cs typeface="Noto Sans SC"/>
              </a:rPr>
              <a:t>仓库级 NPU 迁移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CFC347-7E3B-40AD-95CA-4947F143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85975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GPU/PyTorch 项目的分析、适配、验证和交付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D0C57E-BDED-4C48-93BC-D0B54F61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8610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E6A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421F9D-BAE3-4E05-A4C0-29657486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861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BE6A2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5BE6A2"/>
                </a:solidFill>
                <a:latin typeface="Noto Sans SC"/>
                <a:ea typeface="Noto Sans SC"/>
                <a:cs typeface="Noto Sans SC"/>
              </a:rPr>
              <a:t>VeOmni 接入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F1F790-08B9-4EE8-A8EE-99925879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14725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模型分析、并行策略、精度和性能调优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7A115B-37E0-4457-BEEA-A670BD62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47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E456BA-F443-4E37-AA9D-74F6C8CB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148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7474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FF7474"/>
                </a:solidFill>
                <a:latin typeface="Noto Sans SC"/>
                <a:ea typeface="Noto Sans SC"/>
                <a:cs typeface="Noto Sans SC"/>
              </a:rPr>
              <a:t>资料治理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F4AC1F-B84B-4681-86BD-2475508F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43475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资料设计、生成、四维审查和修复闭环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1D0A2E-1CC5-46EA-8B93-F8A612AD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9BED3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9BED3"/>
                </a:solidFill>
                <a:latin typeface="Noto Sans SC"/>
                <a:ea typeface="Noto Sans SC"/>
                <a:cs typeface="Noto Sans SC"/>
              </a:rPr>
              <a:t>同一能力可作为单点 Skill 使用，也可由状态机工作流编排</a:t>
            </a:r>
          </a:p>
        </p:txBody>
      </p:sp>
    </p:spTree>
    <p:extLst>
      <p:ext uri="{BB962C8B-B14F-4D97-AF65-F5344CB8AC3E}">
        <p14:creationId xmlns:p14="http://schemas.microsoft.com/office/powerpoint/2010/main" val="18848994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4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784335-9F6F-411D-94B1-CEA3A7DB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E3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43E3FF"/>
                </a:solidFill>
                <a:latin typeface="Noto Sans SC"/>
                <a:ea typeface="Noto Sans SC"/>
                <a:cs typeface="Noto Sans SC"/>
              </a:rPr>
              <a:t>07 典型案例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7900E-EE4E-4240-B8A2-A516B1F2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案例一：vLLM Ascend 推理优化闭环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50CA5-5AE7-46E0-BE38-E0C02D42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D4B6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6E49C5-0D8E-4992-B0B5-556C545E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ED3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A9BED3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74363-8B49-4F52-93E2-5A1AF8EF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019300"/>
            <a:ext cx="2000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C2138"/>
          </a:solidFill>
          <a:ln xmlns:a="http://schemas.openxmlformats.org/drawingml/2006/main" w="11430">
            <a:solidFill>
              <a:srgbClr val="43E3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Orchestrator</a:t>
            </a:r>
          </a:p>
          <a:p xmlns:a="http://schemas.openxmlformats.org/drawingml/2006/main">
            <a:pPr algn="ctr">
              <a:defRPr sz="157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驱动状态机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1F2C6-A681-4A01-B089-D80FDF7F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019300"/>
            <a:ext cx="2000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C2138"/>
          </a:solidFill>
          <a:ln xmlns:a="http://schemas.openxmlformats.org/drawingml/2006/main" w="11430">
            <a:solidFill>
              <a:srgbClr val="4E8B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Architect</a:t>
            </a:r>
          </a:p>
          <a:p xmlns:a="http://schemas.openxmlformats.org/drawingml/2006/main">
            <a:pPr algn="ctr">
              <a:defRPr sz="157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模型与显存分析</a:t>
            </a:r>
          </a:p>
        </p:txBody>
      </p: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428875" y="24765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E8BFF"/>
            </a:solidFill>
            <a:prstDash val="solid"/>
            <a:tailEnd type="triangle" w="sm" len="sm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B5A845-1C5C-49D5-91A7-8E270128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019300"/>
            <a:ext cx="2000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C2138"/>
          </a:solidFill>
          <a:ln xmlns:a="http://schemas.openxmlformats.org/drawingml/2006/main" w="11430">
            <a:solidFill>
              <a:srgbClr val="9B7B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Developer</a:t>
            </a:r>
          </a:p>
          <a:p xmlns:a="http://schemas.openxmlformats.org/drawingml/2006/main">
            <a:pPr algn="ctr">
              <a:defRPr sz="157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部署与服务启动</a:t>
            </a:r>
          </a:p>
        </p:txBody>
      </p:sp>
      <p:cxnSp>
        <p:nvCxnSpPr>
          <p:cNvPr id="28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772025" y="24765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B7BFF"/>
            </a:solidFill>
            <a:prstDash val="solid"/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9D2025-F051-4580-8180-91668DDE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019300"/>
            <a:ext cx="2000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C2138"/>
          </a:solidFill>
          <a:ln xmlns:a="http://schemas.openxmlformats.org/drawingml/2006/main" w="11430">
            <a:solidFill>
              <a:srgbClr val="FFB8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Tester</a:t>
            </a:r>
          </a:p>
          <a:p xmlns:a="http://schemas.openxmlformats.org/drawingml/2006/main">
            <a:pPr algn="ctr">
              <a:defRPr sz="157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Benchmark 与寻优</a:t>
            </a:r>
          </a:p>
        </p:txBody>
      </p:sp>
      <p:cxnSp>
        <p:nvCxnSpPr>
          <p:cNvPr id="30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115175" y="24765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B85C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171D84-52F1-47B0-9939-18751623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019300"/>
            <a:ext cx="2000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C2138"/>
          </a:solidFill>
          <a:ln xmlns:a="http://schemas.openxmlformats.org/drawingml/2006/main" w="11430">
            <a:solidFill>
              <a:srgbClr val="5BE6A2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Reviewer</a:t>
            </a:r>
          </a:p>
          <a:p xmlns:a="http://schemas.openxmlformats.org/drawingml/2006/main">
            <a:pPr algn="ctr">
              <a:defRPr sz="157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Profiling 与诊断</a:t>
            </a:r>
          </a:p>
        </p:txBody>
      </p:sp>
      <p:cxnSp>
        <p:nvCxnSpPr>
          <p:cNvPr id="32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458325" y="24765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E6A2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DE2E2F-9C98-444C-97C6-6203B857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219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B85C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FFB85C"/>
                </a:solidFill>
                <a:latin typeface="Noto Sans SC"/>
                <a:ea typeface="Noto Sans SC"/>
                <a:cs typeface="Noto Sans SC"/>
              </a:rPr>
              <a:t>服务重启循环</a:t>
            </a:r>
          </a:p>
        </p:txBody>
      </p:sp>
      <p:cxnSp>
        <p:nvCxnSpPr>
          <p:cNvPr id="34" name=""/>
          <p:cNvCxnSpPr>
            <a:stCxn xmlns:a="http://schemas.openxmlformats.org/drawingml/2006/main" id="10" idx="2"/>
            <a:endCxn xmlns:a="http://schemas.openxmlformats.org/drawingml/2006/main" id="8" idx="2"/>
          </p:cNvCxnSpPr>
          <p:nvPr/>
        </p:nvCxnSpPr>
        <p:spPr>
          <a:xfrm xmlns:a="http://schemas.openxmlformats.org/drawingml/2006/main" flipH="1">
            <a:off x="6115050" y="2933700"/>
            <a:ext cx="2343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B85C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BDCE23-1945-4E2A-B82F-5C2EB19F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766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E6A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E6A2"/>
                </a:solidFill>
                <a:latin typeface="Noto Sans SC"/>
                <a:ea typeface="Noto Sans SC"/>
                <a:cs typeface="Noto Sans SC"/>
              </a:rPr>
              <a:t>诊断后继续验证</a:t>
            </a:r>
          </a:p>
        </p:txBody>
      </p:sp>
      <p:cxnSp>
        <p:nvCxnSpPr>
          <p:cNvPr id="36" name=""/>
          <p:cNvCxnSpPr>
            <a:stCxn xmlns:a="http://schemas.openxmlformats.org/drawingml/2006/main" id="12" idx="2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H="1">
            <a:off x="8458200" y="2933700"/>
            <a:ext cx="2343150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5BE6A2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67A364-6E21-424C-B393-14DDA4F4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3E3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43E3FF"/>
                </a:solidFill>
                <a:latin typeface="Noto Sans SC"/>
                <a:ea typeface="Noto Sans SC"/>
                <a:cs typeface="Noto Sans SC"/>
              </a:rPr>
              <a:t>最终交付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39597D-BB44-4DC1-B296-FE57BC5E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54000" indent="-127000" algn="l">
              <a:spcAft>
                <a:spcPts val="600"/>
              </a:spcAft>
              <a:buChar char="•"/>
              <a:defRPr sz="165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t>并行策略和显存预算</a:t>
            </a:r>
          </a:p>
          <a:p xmlns:a="http://schemas.openxmlformats.org/drawingml/2006/main">
            <a:pPr marL="254000" indent="-127000" algn="l">
              <a:spcAft>
                <a:spcPts val="600"/>
              </a:spcAft>
              <a:buChar char="•"/>
              <a:defRPr sz="165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t>基线与优化后的吞吐、TTFT、TPOT 和延迟</a:t>
            </a:r>
          </a:p>
          <a:p xmlns:a="http://schemas.openxmlformats.org/drawingml/2006/main">
            <a:pPr marL="254000" indent="-127000" algn="l">
              <a:spcAft>
                <a:spcPts val="600"/>
              </a:spcAft>
              <a:buChar char="•"/>
              <a:defRPr sz="165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t>最优参数组合及 Profiling 证据</a:t>
            </a:r>
          </a:p>
          <a:p xmlns:a="http://schemas.openxmlformats.org/drawingml/2006/main">
            <a:pPr marL="254000" indent="-127000" algn="l">
              <a:spcAft>
                <a:spcPts val="600"/>
              </a:spcAft>
              <a:buChar char="•"/>
              <a:defRPr sz="165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t>瓶颈分类、优化建议和后续验证方法</a:t>
            </a:r>
          </a:p>
        </p:txBody>
      </p:sp>
    </p:spTree>
    <p:extLst>
      <p:ext uri="{BB962C8B-B14F-4D97-AF65-F5344CB8AC3E}">
        <p14:creationId xmlns:p14="http://schemas.microsoft.com/office/powerpoint/2010/main" val="19592541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4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25BEB6-897C-4635-BCFB-B114E42E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E3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43E3FF"/>
                </a:solidFill>
                <a:latin typeface="Noto Sans SC"/>
                <a:ea typeface="Noto Sans SC"/>
                <a:cs typeface="Noto Sans SC"/>
              </a:rPr>
              <a:t>07 典型案例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F41A2-4744-4CD0-9D03-BB73AE53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案例二：昇腾算子开发流程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C2EF0-F2DB-47D7-8D6F-DD9E480D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D4B6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95D1C-966C-430E-AFC1-BD4E5B98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ED3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A9BED3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A60BE-A2BE-482D-8F6C-E8C01D5A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2857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42A48"/>
          </a:solidFill>
          <a:ln xmlns:a="http://schemas.openxmlformats.org/drawingml/2006/main" w="11430">
            <a:solidFill>
              <a:srgbClr val="4E8B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DESIGN</a:t>
            </a:r>
          </a:p>
          <a:p xmlns:a="http://schemas.openxmlformats.org/drawingml/2006/main">
            <a:pPr algn="ctr">
              <a:defRPr sz="19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需求分析与详细设计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E0F46-F67B-4285-94F3-F9BA7579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76450"/>
            <a:ext cx="2857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33294A"/>
          </a:solidFill>
          <a:ln xmlns:a="http://schemas.openxmlformats.org/drawingml/2006/main" w="11430">
            <a:solidFill>
              <a:srgbClr val="9B7B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IMPLEMENT</a:t>
            </a:r>
          </a:p>
          <a:p xmlns:a="http://schemas.openxmlformats.org/drawingml/2006/main">
            <a:pPr algn="ctr">
              <a:defRPr sz="19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代码实现与测试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C4667-6D17-4114-A5D5-9A65D424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857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3E3020"/>
          </a:solidFill>
          <a:ln xmlns:a="http://schemas.openxmlformats.org/drawingml/2006/main" w="11430">
            <a:solidFill>
              <a:srgbClr val="FFB8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OPTIMIZE</a:t>
            </a:r>
          </a:p>
          <a:p xmlns:a="http://schemas.openxmlformats.org/drawingml/2006/main">
            <a:pPr algn="ctr">
              <a:defRPr sz="19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Profiling 驱动优化</a:t>
            </a:r>
          </a:p>
        </p:txBody>
      </p: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95700" y="2790825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B7BFF"/>
            </a:solidFill>
            <a:prstDash val="solid"/>
            <a:tailEnd type="triangle" w="sm" len="sm"/>
          </a:ln>
        </p:spPr>
      </p:cxnSp>
      <p:cxnSp>
        <p:nvCxnSpPr>
          <p:cNvPr id="2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524750" y="2790825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B85C"/>
            </a:solidFill>
            <a:prstDash val="solid"/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7650DE-67D5-46B6-A16F-8464E1FD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接口、Shape、Tiling、内存计划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050344-E379-46A8-8935-29479378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243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Triton / Ascend C 实现</a:t>
            </a:r>
          </a:p>
          <a:p xmlns:a="http://schemas.openxmlformats.org/drawingml/2006/main">
            <a:pPr algn="ctr">
              <a:defRPr sz="150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精度与性能用例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662430-C0C4-49FF-B6AE-98E3A763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243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访存、并行度、核函数结构</a:t>
            </a:r>
          </a:p>
          <a:p xmlns:a="http://schemas.openxmlformats.org/drawingml/2006/main">
            <a:pPr algn="ctr">
              <a:defRPr sz="150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迭代验收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B0B1B5-5E64-45CA-9CFA-74B13560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3E3FF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43E3FF"/>
                </a:solidFill>
                <a:latin typeface="Noto Sans SC"/>
                <a:ea typeface="Noto Sans SC"/>
                <a:cs typeface="Noto Sans SC"/>
              </a:rPr>
              <a:t>工作流交付的是可测试、可比较、可继续优化的算子实现</a:t>
            </a:r>
          </a:p>
        </p:txBody>
      </p:sp>
    </p:spTree>
    <p:extLst>
      <p:ext uri="{BB962C8B-B14F-4D97-AF65-F5344CB8AC3E}">
        <p14:creationId xmlns:p14="http://schemas.microsoft.com/office/powerpoint/2010/main" val="17621401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4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09B404-38BD-4230-A9FD-CE333127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E3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43E3FF"/>
                </a:solidFill>
                <a:latin typeface="Noto Sans SC"/>
                <a:ea typeface="Noto Sans SC"/>
                <a:cs typeface="Noto Sans SC"/>
              </a:rPr>
              <a:t>07 典型案例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AA3FC-056B-422D-845F-E5E7696E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案例三：仓库级 NPU 迁移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FCE3B-9362-4AB9-A998-A5ED0E1E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D4B6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E4320-7CE2-4B73-9EA3-48F53B4E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ED3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A9BED3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8EB23-BAB7-4F53-9112-58F0A2FC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3143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1384B"/>
          </a:solidFill>
          <a:ln xmlns:a="http://schemas.openxmlformats.org/drawingml/2006/main" w="11430">
            <a:solidFill>
              <a:srgbClr val="43E3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GOAL 入口</a:t>
            </a:r>
          </a:p>
          <a:p xmlns:a="http://schemas.openxmlformats.org/drawingml/2006/main">
            <a:pPr algn="ctr">
              <a:defRPr sz="210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理解目标仓与迁移范围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E9B992-BAE3-47D6-8724-B8201C0D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57350"/>
            <a:ext cx="2667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C2138"/>
          </a:solidFill>
          <a:ln xmlns:a="http://schemas.openxmlformats.org/drawingml/2006/main" w="11430">
            <a:solidFill>
              <a:srgbClr val="4E8B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feature-model</a:t>
            </a:r>
          </a:p>
          <a:p xmlns:a="http://schemas.openxmlformats.org/drawingml/2006/main">
            <a:pPr algn="ctr">
              <a:defRPr sz="150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特性与模型分析</a:t>
            </a:r>
          </a:p>
        </p:txBody>
      </p:sp>
      <p:cxnSp>
        <p:nvCxnSpPr>
          <p:cNvPr id="2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810000" y="2114550"/>
            <a:ext cx="1333500" cy="1200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E8BFF"/>
            </a:solidFill>
            <a:prstDash val="solid"/>
            <a:tailEnd type="triangle" w="sm" len="sm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7B5A43-9A67-4DB2-A2AA-FF6E8913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57350"/>
            <a:ext cx="2667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C2138"/>
          </a:solidFill>
          <a:ln xmlns:a="http://schemas.openxmlformats.org/drawingml/2006/main" w="11430">
            <a:solidFill>
              <a:srgbClr val="9B7B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local-assets</a:t>
            </a:r>
          </a:p>
          <a:p xmlns:a="http://schemas.openxmlformats.org/drawingml/2006/main">
            <a:pPr algn="ctr">
              <a:defRPr sz="150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本地资源检查</a:t>
            </a:r>
          </a:p>
        </p:txBody>
      </p:sp>
      <p:cxnSp>
        <p:nvCxnSpPr>
          <p:cNvPr id="27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810000" y="2114550"/>
            <a:ext cx="4476750" cy="1200150"/>
          </a:xfrm>
          <a:prstGeom xmlns:a="http://schemas.openxmlformats.org/drawingml/2006/main" prst="bentConnector5">
            <a:avLst>
              <a:gd name="adj1" fmla="val 5106"/>
              <a:gd name="adj2" fmla="val 52381"/>
              <a:gd name="adj3" fmla="val 94894"/>
            </a:avLst>
          </a:prstGeom>
          <a:ln xmlns:a="http://schemas.openxmlformats.org/drawingml/2006/main" w="19050">
            <a:solidFill>
              <a:srgbClr val="9B7BFF"/>
            </a:solidFill>
            <a:prstDash val="solid"/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14E222-64A5-4F9A-8A3C-712165C3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86100"/>
            <a:ext cx="2667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C2138"/>
          </a:solidFill>
          <a:ln xmlns:a="http://schemas.openxmlformats.org/drawingml/2006/main" w="11430">
            <a:solidFill>
              <a:srgbClr val="5BE6A2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env-setup</a:t>
            </a:r>
          </a:p>
          <a:p xmlns:a="http://schemas.openxmlformats.org/drawingml/2006/main">
            <a:pPr algn="ctr">
              <a:defRPr sz="150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环境准备</a:t>
            </a:r>
          </a:p>
        </p:txBody>
      </p: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810000" y="3314700"/>
            <a:ext cx="1333500" cy="228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BE6A2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2BF615-D7DC-4198-8D43-32103547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86100"/>
            <a:ext cx="2667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C2138"/>
          </a:solidFill>
          <a:ln xmlns:a="http://schemas.openxmlformats.org/drawingml/2006/main" w="11430">
            <a:solidFill>
              <a:srgbClr val="FFB8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repair</a:t>
            </a:r>
          </a:p>
          <a:p xmlns:a="http://schemas.openxmlformats.org/drawingml/2006/main">
            <a:pPr algn="ctr">
              <a:defRPr sz="150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代码适配与修复</a:t>
            </a:r>
          </a:p>
        </p:txBody>
      </p: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810000" y="2971800"/>
            <a:ext cx="4476750" cy="5715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FFB85C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C630E4-723B-4ACD-9676-92F2C3C5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14850"/>
            <a:ext cx="2667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C2138"/>
          </a:solidFill>
          <a:ln xmlns:a="http://schemas.openxmlformats.org/drawingml/2006/main" w="11430">
            <a:solidFill>
              <a:srgbClr val="FF747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vllm-ascend-env</a:t>
            </a:r>
          </a:p>
          <a:p xmlns:a="http://schemas.openxmlformats.org/drawingml/2006/main">
            <a:pPr algn="ctr">
              <a:defRPr sz="150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推理环境适配</a:t>
            </a:r>
          </a:p>
        </p:txBody>
      </p:sp>
      <p:cxnSp>
        <p:nvCxnSpPr>
          <p:cNvPr id="33" name=""/>
          <p:cNvCxnSpPr>
            <a:stCxn xmlns:a="http://schemas.openxmlformats.org/drawingml/2006/main" id="5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810000" y="3314700"/>
            <a:ext cx="1333500" cy="1657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F7474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893EE1-53B6-4786-B17D-8E20C6B5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14850"/>
            <a:ext cx="2667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C2138"/>
          </a:solidFill>
          <a:ln xmlns:a="http://schemas.openxmlformats.org/drawingml/2006/main" w="11430">
            <a:solidFill>
              <a:srgbClr val="43E3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report-pr / docs-support</a:t>
            </a:r>
          </a:p>
          <a:p xmlns:a="http://schemas.openxmlformats.org/drawingml/2006/main">
            <a:pPr algn="ctr">
              <a:defRPr sz="150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报告、PR 与资料</a:t>
            </a:r>
          </a:p>
        </p:txBody>
      </p:sp>
      <p:cxnSp>
        <p:nvCxnSpPr>
          <p:cNvPr id="35" name=""/>
          <p:cNvCxnSpPr>
            <a:stCxn xmlns:a="http://schemas.openxmlformats.org/drawingml/2006/main" id="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810000" y="3314700"/>
            <a:ext cx="4476750" cy="1657350"/>
          </a:xfrm>
          <a:prstGeom xmlns:a="http://schemas.openxmlformats.org/drawingml/2006/main" prst="bentConnector5">
            <a:avLst>
              <a:gd name="adj1" fmla="val 27234"/>
              <a:gd name="adj2" fmla="val 65517"/>
              <a:gd name="adj3" fmla="val 94894"/>
            </a:avLst>
          </a:prstGeom>
          <a:ln xmlns:a="http://schemas.openxmlformats.org/drawingml/2006/main" w="19050">
            <a:solidFill>
              <a:srgbClr val="43E3FF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82A33E-56DF-4CA3-A80F-881CD8E5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A9BED3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A9BED3"/>
                </a:solidFill>
                <a:latin typeface="Noto Sans SC"/>
                <a:ea typeface="Noto Sans SC"/>
                <a:cs typeface="Noto Sans SC"/>
              </a:rPr>
              <a:t>按仓库实际状态自适应组合，不套用固定状态机</a:t>
            </a:r>
          </a:p>
        </p:txBody>
      </p:sp>
    </p:spTree>
    <p:extLst>
      <p:ext uri="{BB962C8B-B14F-4D97-AF65-F5344CB8AC3E}">
        <p14:creationId xmlns:p14="http://schemas.microsoft.com/office/powerpoint/2010/main" val="9726631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4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8C4779-271D-481F-8D64-B507718F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E3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43E3FF"/>
                </a:solidFill>
                <a:latin typeface="Noto Sans SC"/>
                <a:ea typeface="Noto Sans SC"/>
                <a:cs typeface="Noto Sans SC"/>
              </a:rPr>
              <a:t>08 可信执行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598BC3-F540-4D8C-A1A1-3F3EF114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工程化保障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BAD3D-6DBE-4191-A1FA-D75C0E1F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D4B6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76019-E73C-4DBE-BB3C-DBFE744F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ED3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A9BED3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D057C-4247-48C5-AD6A-724BB7FE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47950"/>
            <a:ext cx="266700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47"/>
          </a:solidFill>
          <a:ln xmlns:a="http://schemas.openxmlformats.org/drawingml/2006/main" w="11430">
            <a:solidFill>
              <a:srgbClr val="43E3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可信交付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AAA99-F30D-4FAF-A560-0DAE03F5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2667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C2138"/>
          </a:solidFill>
          <a:ln xmlns:a="http://schemas.openxmlformats.org/drawingml/2006/main" w="11430">
            <a:solidFill>
              <a:srgbClr val="4E8B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确定性路由</a:t>
            </a:r>
          </a:p>
        </p:txBody>
      </p:sp>
      <p:cxnSp>
        <p:nvCxnSpPr>
          <p:cNvPr id="22" name=""/>
          <p:cNvCxnSpPr>
            <a:stCxn xmlns:a="http://schemas.openxmlformats.org/drawingml/2006/main" id="6" idx="3"/>
            <a:endCxn xmlns:a="http://schemas.openxmlformats.org/drawingml/2006/main" id="5" idx="2"/>
          </p:cNvCxnSpPr>
          <p:nvPr/>
        </p:nvCxnSpPr>
        <p:spPr>
          <a:xfrm xmlns:a="http://schemas.openxmlformats.org/drawingml/2006/main">
            <a:off x="3600450" y="2114550"/>
            <a:ext cx="1162050" cy="1152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E8BFF"/>
            </a:solidFill>
            <a:prstDash val="solid"/>
            <a:tailEnd type="triangle" w="sm" len="sm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8B502A-8B19-4D25-A371-F22E7092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2667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C2138"/>
          </a:solidFill>
          <a:ln xmlns:a="http://schemas.openxmlformats.org/drawingml/2006/main" w="11430">
            <a:solidFill>
              <a:srgbClr val="9B7B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状态机与门禁</a:t>
            </a:r>
          </a:p>
        </p:txBody>
      </p:sp>
      <p:cxnSp>
        <p:nvCxnSpPr>
          <p:cNvPr id="24" name=""/>
          <p:cNvCxnSpPr>
            <a:stCxn xmlns:a="http://schemas.openxmlformats.org/drawingml/2006/main" id="8" idx="3"/>
            <a:endCxn xmlns:a="http://schemas.openxmlformats.org/drawingml/2006/main" id="5" idx="2"/>
          </p:cNvCxnSpPr>
          <p:nvPr/>
        </p:nvCxnSpPr>
        <p:spPr>
          <a:xfrm xmlns:a="http://schemas.openxmlformats.org/drawingml/2006/main" flipV="1">
            <a:off x="3600450" y="3267075"/>
            <a:ext cx="1162050" cy="1514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B7BFF"/>
            </a:solidFill>
            <a:prstDash val="solid"/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6553B-2928-4D77-9D84-221267D9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95450"/>
            <a:ext cx="2667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C2138"/>
          </a:solidFill>
          <a:ln xmlns:a="http://schemas.openxmlformats.org/drawingml/2006/main" w="11430">
            <a:solidFill>
              <a:srgbClr val="5BE6A2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结构化 Handoff</a:t>
            </a:r>
          </a:p>
        </p:txBody>
      </p:sp>
      <p:cxnSp>
        <p:nvCxnSpPr>
          <p:cNvPr id="26" name=""/>
          <p:cNvCxnSpPr>
            <a:stCxn xmlns:a="http://schemas.openxmlformats.org/drawingml/2006/main" id="10" idx="1"/>
            <a:endCxn xmlns:a="http://schemas.openxmlformats.org/drawingml/2006/main" id="5" idx="6"/>
          </p:cNvCxnSpPr>
          <p:nvPr/>
        </p:nvCxnSpPr>
        <p:spPr>
          <a:xfrm xmlns:a="http://schemas.openxmlformats.org/drawingml/2006/main" flipH="1">
            <a:off x="7429500" y="2114550"/>
            <a:ext cx="1162050" cy="1152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BE6A2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3A7AC7-5CC8-4F11-A0EE-22A837F2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62450"/>
            <a:ext cx="2667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C2138"/>
          </a:solidFill>
          <a:ln xmlns:a="http://schemas.openxmlformats.org/drawingml/2006/main" w="11430">
            <a:solidFill>
              <a:srgbClr val="FFB8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命令与日志证据</a:t>
            </a:r>
          </a:p>
        </p:txBody>
      </p:sp>
      <p:cxnSp>
        <p:nvCxnSpPr>
          <p:cNvPr id="28" name=""/>
          <p:cNvCxnSpPr>
            <a:stCxn xmlns:a="http://schemas.openxmlformats.org/drawingml/2006/main" id="12" idx="1"/>
            <a:endCxn xmlns:a="http://schemas.openxmlformats.org/drawingml/2006/main" id="5" idx="6"/>
          </p:cNvCxnSpPr>
          <p:nvPr/>
        </p:nvCxnSpPr>
        <p:spPr>
          <a:xfrm xmlns:a="http://schemas.openxmlformats.org/drawingml/2006/main" flipH="1" flipV="1">
            <a:off x="7429500" y="3267075"/>
            <a:ext cx="1162050" cy="1514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FB85C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ABCBB7-D838-4CB9-B335-6883C42C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53000"/>
            <a:ext cx="2667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C2138"/>
          </a:solidFill>
          <a:ln xmlns:a="http://schemas.openxmlformats.org/drawingml/2006/main" w="11430">
            <a:solidFill>
              <a:srgbClr val="FF747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可恢复与可审计</a:t>
            </a:r>
          </a:p>
        </p:txBody>
      </p:sp>
      <p:cxnSp>
        <p:nvCxnSpPr>
          <p:cNvPr id="30" name=""/>
          <p:cNvCxnSpPr>
            <a:stCxn xmlns:a="http://schemas.openxmlformats.org/drawingml/2006/main" id="14" idx="0"/>
            <a:endCxn xmlns:a="http://schemas.openxmlformats.org/drawingml/2006/main" id="5" idx="4"/>
          </p:cNvCxnSpPr>
          <p:nvPr/>
        </p:nvCxnSpPr>
        <p:spPr>
          <a:xfrm xmlns:a="http://schemas.openxmlformats.org/drawingml/2006/main" flipV="1">
            <a:off x="6096000" y="3886200"/>
            <a:ext cx="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474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2675889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4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99397C-5E3A-46A5-BA62-7944827A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E3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43E3FF"/>
                </a:solidFill>
                <a:latin typeface="Noto Sans SC"/>
                <a:ea typeface="Noto Sans SC"/>
                <a:cs typeface="Noto Sans SC"/>
              </a:rPr>
              <a:t>09 实际使用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D559C-209D-493D-A18A-D8D91896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快速开始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27DAF-D6AF-46EB-82BD-94181A6C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D4B6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D10E7-D5AC-4E7E-82A2-747792CC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ED3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A9BED3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0AA09-09F3-4F50-A538-41E6A044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E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423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071423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4108D-5903-497F-84D3-13D26B5C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38400"/>
            <a:ext cx="2476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0C2138"/>
          </a:solidFill>
          <a:ln xmlns:a="http://schemas.openxmlformats.org/drawingml/2006/main" w="11430">
            <a:solidFill>
              <a:srgbClr val="43E3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安装 Core</a:t>
            </a:r>
          </a:p>
          <a:p xmlns:a="http://schemas.openxmlformats.org/drawingml/2006/main">
            <a:pPr algn="ctr">
              <a:def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install.bat codex</a:t>
            </a:r>
          </a:p>
          <a:p xmlns:a="http://schemas.openxmlformats.org/drawingml/2006/main">
            <a:pPr algn="ctr">
              <a:def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或 bash install.sh codex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BBA970-3AD1-49B0-91F8-78E71BCE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733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8B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423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071423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1D8BC-0678-4210-91D6-FB121783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438400"/>
            <a:ext cx="2476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0C2138"/>
          </a:solidFill>
          <a:ln xmlns:a="http://schemas.openxmlformats.org/drawingml/2006/main" w="11430">
            <a:solidFill>
              <a:srgbClr val="4E8B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描述目标</a:t>
            </a:r>
          </a:p>
          <a:p xmlns:a="http://schemas.openxmlformats.org/drawingml/2006/main">
            <a:pPr algn="ctr">
              <a:def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“优化 Qwen 推理吞吐”</a:t>
            </a:r>
          </a:p>
        </p:txBody>
      </p: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90850" y="32004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E8BFF"/>
            </a:solidFill>
            <a:prstDash val="solid"/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DF6B5A-CAD3-41BD-9E19-0E20987C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33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423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071423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D4FD29-FF39-4E1C-B61C-981B1889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38400"/>
            <a:ext cx="2476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0C2138"/>
          </a:solidFill>
          <a:ln xmlns:a="http://schemas.openxmlformats.org/drawingml/2006/main" w="11430">
            <a:solidFill>
              <a:srgbClr val="9B7B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按需安装</a:t>
            </a:r>
          </a:p>
          <a:p xmlns:a="http://schemas.openxmlformats.org/drawingml/2006/main">
            <a:pPr algn="ctr">
              <a:defRPr sz="142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codex plugin add</a:t>
            </a:r>
          </a:p>
          <a:p xmlns:a="http://schemas.openxmlformats.org/drawingml/2006/main">
            <a:pPr algn="ctr">
              <a:defRPr sz="142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&lt;unit&gt;@MindSpeed-Agent</a:t>
            </a:r>
          </a:p>
        </p:txBody>
      </p:sp>
      <p:cxnSp>
        <p:nvCxnSpPr>
          <p:cNvPr id="30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895975" y="32004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B7BFF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0B65FF-BB37-4701-8BB6-18B1C8C5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733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E6A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423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071423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F67952-281F-40C8-AF4C-9A00E781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438400"/>
            <a:ext cx="2476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0C2138"/>
          </a:solidFill>
          <a:ln xmlns:a="http://schemas.openxmlformats.org/drawingml/2006/main" w="11430">
            <a:solidFill>
              <a:srgbClr val="5BE6A2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新开会话执行</a:t>
            </a:r>
          </a:p>
          <a:p xmlns:a="http://schemas.openxmlformats.org/drawingml/2006/main">
            <a:pPr algn="ctr">
              <a:def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进入领域 Skill 或工作流</a:t>
            </a:r>
          </a:p>
        </p:txBody>
      </p:sp>
      <p:cxnSp>
        <p:nvCxnSpPr>
          <p:cNvPr id="33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801100" y="32004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E6A2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FA9D3A-E57C-432B-B0BF-D9836B00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3E3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43E3FF"/>
                </a:solidFill>
                <a:latin typeface="Noto Sans SC"/>
                <a:ea typeface="Noto Sans SC"/>
                <a:cs typeface="Noto Sans SC"/>
              </a:rPr>
              <a:t>常用检查命令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FC1811-1589-46C4-A297-BE070E71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00650"/>
            <a:ext cx="5810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A1C2D"/>
          </a:solidFill>
          <a:ln xmlns:a="http://schemas.openxmlformats.org/drawingml/2006/main" w="11430">
            <a:solidFill>
              <a:srgbClr val="2D4B6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BFF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7FBFF"/>
                </a:solidFill>
                <a:latin typeface="Consolas"/>
                <a:ea typeface="Consolas"/>
                <a:cs typeface="Consolas"/>
              </a:rPr>
              <a:t>python tools/install-unit.py status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FBA38F-37A1-44D4-A7FC-65B9E5E5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3875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FFB85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FB85C"/>
                </a:solidFill>
                <a:latin typeface="Noto Sans SC"/>
                <a:ea typeface="Noto Sans SC"/>
                <a:cs typeface="Noto Sans SC"/>
              </a:rPr>
              <a:t>安装新的领域 Unit 后，需要新开会话加载 Skill</a:t>
            </a:r>
          </a:p>
        </p:txBody>
      </p:sp>
    </p:spTree>
    <p:extLst>
      <p:ext uri="{BB962C8B-B14F-4D97-AF65-F5344CB8AC3E}">
        <p14:creationId xmlns:p14="http://schemas.microsoft.com/office/powerpoint/2010/main" val="605145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4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EA320-17FB-4E1E-9057-C6D14EC8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E3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43E3FF"/>
                </a:solidFill>
                <a:latin typeface="Noto Sans SC"/>
                <a:ea typeface="Noto Sans SC"/>
                <a:cs typeface="Noto Sans SC"/>
              </a:rPr>
              <a:t>10 共同建设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10A85-D64B-48BF-967C-BC06FB1C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如何贡献一个 Skill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01C6ED-7E25-48A7-AA63-20892E56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D4B6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CFB35-9397-401D-B120-EEB3C75A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ED3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A9BED3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C606F5-E908-41DD-A4C7-9CDFBC5E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先从一个边界清晰、可以验证的问题开始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34F86-C425-412B-9AE8-B1072621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5334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54000" indent="-127000" algn="l">
              <a:spcAft>
                <a:spcPts val="1200"/>
              </a:spcAft>
              <a:buChar char="•"/>
              <a:defRPr sz="180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t>明确用户会在什么场景触发</a:t>
            </a:r>
          </a:p>
          <a:p xmlns:a="http://schemas.openxmlformats.org/drawingml/2006/main">
            <a:pPr marL="254000" indent="-127000" algn="l">
              <a:spcAft>
                <a:spcPts val="1200"/>
              </a:spcAft>
              <a:buChar char="•"/>
              <a:defRPr sz="180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t>确认仓库中没有功能重复的 Skill</a:t>
            </a:r>
          </a:p>
          <a:p xmlns:a="http://schemas.openxmlformats.org/drawingml/2006/main">
            <a:pPr marL="254000" indent="-127000" algn="l">
              <a:spcAft>
                <a:spcPts val="1200"/>
              </a:spcAft>
              <a:buChar char="•"/>
              <a:defRPr sz="180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t>选择正确的 domain 和 function 目录</a:t>
            </a:r>
          </a:p>
          <a:p xmlns:a="http://schemas.openxmlformats.org/drawingml/2006/main">
            <a:pPr marL="254000" indent="-127000" algn="l">
              <a:spcAft>
                <a:spcPts val="1200"/>
              </a:spcAft>
              <a:buChar char="•"/>
              <a:defRPr sz="180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t>写清步骤、异常处理、成功标准和验证方式</a:t>
            </a:r>
          </a:p>
          <a:p xmlns:a="http://schemas.openxmlformats.org/drawingml/2006/main">
            <a:pPr marL="254000" indent="-127000" algn="l">
              <a:spcAft>
                <a:spcPts val="1200"/>
              </a:spcAft>
              <a:buChar char="•"/>
              <a:defRPr sz="1800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t>本地跑通后再提交 PR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43896F-9CA5-400B-861D-C8D14BF7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38350"/>
            <a:ext cx="4572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A1C2D"/>
          </a:solidFill>
          <a:ln xmlns:a="http://schemas.openxmlformats.org/drawingml/2006/main" w="11430">
            <a:solidFill>
              <a:srgbClr val="43E3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B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BFF"/>
                </a:solidFill>
                <a:latin typeface="Consolas"/>
                <a:ea typeface="Consolas"/>
                <a:cs typeface="Consolas"/>
              </a:rPr>
              <a:t>skills/&lt;domain&gt;/&lt;function&gt;/</a:t>
            </a:r>
          </a:p>
          <a:p xmlns:a="http://schemas.openxmlformats.org/drawingml/2006/main">
            <a:pPr algn="l">
              <a:defRPr sz="1500" b="0">
                <a:solidFill>
                  <a:srgbClr val="F7FB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BFF"/>
                </a:solidFill>
                <a:latin typeface="Consolas"/>
                <a:ea typeface="Consolas"/>
                <a:cs typeface="Consolas"/>
              </a:rPr>
              <a:t>└── &lt;skill-name&gt;/SKILL.md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05858-FF38-45FF-92FA-C2C31EE0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86150"/>
            <a:ext cx="45720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C2138"/>
          </a:solidFill>
          <a:ln xmlns:a="http://schemas.openxmlformats.org/drawingml/2006/main" w="11430">
            <a:solidFill>
              <a:srgbClr val="9B7B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name: kebab-case</a:t>
            </a:r>
          </a:p>
          <a:p xmlns:a="http://schemas.openxmlformats.org/drawingml/2006/main">
            <a:pPr algn="l">
              <a:def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description: This skill should be used when...</a:t>
            </a:r>
          </a:p>
          <a:p xmlns:a="http://schemas.openxmlformats.org/drawingml/2006/main">
            <a:pPr algn="l">
              <a:def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domain / function / tags / version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9CD2AF-1613-456F-9617-3180863E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86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BE6A2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BE6A2"/>
                </a:solidFill>
                <a:latin typeface="Noto Sans SC"/>
                <a:ea typeface="Noto Sans SC"/>
                <a:cs typeface="Noto Sans SC"/>
              </a:rPr>
              <a:t>Skill 面向智能体执行，必须比普通经验文档更明确</a:t>
            </a:r>
          </a:p>
        </p:txBody>
      </p:sp>
    </p:spTree>
    <p:extLst>
      <p:ext uri="{BB962C8B-B14F-4D97-AF65-F5344CB8AC3E}">
        <p14:creationId xmlns:p14="http://schemas.microsoft.com/office/powerpoint/2010/main" val="12679695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4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941576-B2A1-4B7C-9B7B-42BEFE2B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E3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43E3FF"/>
                </a:solidFill>
                <a:latin typeface="Noto Sans SC"/>
                <a:ea typeface="Noto Sans SC"/>
                <a:cs typeface="Noto Sans SC"/>
              </a:rPr>
              <a:t>11 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2EA08-FAA1-4181-A3CD-AAB7EE22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人负责判断，Agent 负责放大工程能力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6CF3D-8C6D-49E6-94E0-25C8DC88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D4B6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BFC5E1-C41A-4976-AC2E-4A64A15D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ED3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A9BED3"/>
                </a:solidFill>
                <a:latin typeface="Noto Sans SC"/>
                <a:ea typeface="Noto Sans SC"/>
                <a:cs typeface="Noto Sans S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BDC68F-9046-4D58-8BA0-4F418640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3E3FF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43E3FF"/>
                </a:solidFill>
                <a:latin typeface="Noto Sans SC"/>
                <a:ea typeface="Noto Sans SC"/>
                <a:cs typeface="Noto Sans SC"/>
              </a:rPr>
              <a:t>适合交给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3CF3C-E1CF-4CE8-AB6A-727C8B18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4762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54000" indent="-127000" algn="l">
              <a:spcAft>
                <a:spcPts val="1000"/>
              </a:spcAft>
              <a:buChar char="•"/>
              <a:defRPr sz="172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t>查找正确入口和执行链</a:t>
            </a:r>
          </a:p>
          <a:p xmlns:a="http://schemas.openxmlformats.org/drawingml/2006/main">
            <a:pPr marL="254000" indent="-127000" algn="l">
              <a:spcAft>
                <a:spcPts val="1000"/>
              </a:spcAft>
              <a:buChar char="•"/>
              <a:defRPr sz="172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t>执行重复且标准化的流程</a:t>
            </a:r>
          </a:p>
          <a:p xmlns:a="http://schemas.openxmlformats.org/drawingml/2006/main">
            <a:pPr marL="254000" indent="-127000" algn="l">
              <a:spcAft>
                <a:spcPts val="1000"/>
              </a:spcAft>
              <a:buChar char="•"/>
              <a:defRPr sz="172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t>收集运行证据并生成报告</a:t>
            </a:r>
          </a:p>
          <a:p xmlns:a="http://schemas.openxmlformats.org/drawingml/2006/main">
            <a:pPr marL="254000" indent="-127000" algn="l">
              <a:spcAft>
                <a:spcPts val="1000"/>
              </a:spcAft>
              <a:buChar char="•"/>
              <a:defRPr sz="172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t>把专家方法复用到下一次任务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11F49-4C4F-4CF5-9D17-A089DEA7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B85C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FFB85C"/>
                </a:solidFill>
                <a:latin typeface="Noto Sans SC"/>
                <a:ea typeface="Noto Sans SC"/>
                <a:cs typeface="Noto Sans SC"/>
              </a:rPr>
              <a:t>需要工程师确认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DCF3D-AB15-4EC9-AD6F-69423FE3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47900"/>
            <a:ext cx="4762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54000" indent="-127000" algn="l">
              <a:spcAft>
                <a:spcPts val="1000"/>
              </a:spcAft>
              <a:buChar char="•"/>
              <a:defRPr sz="172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t>重大架构选择和需求歧义</a:t>
            </a:r>
          </a:p>
          <a:p xmlns:a="http://schemas.openxmlformats.org/drawingml/2006/main">
            <a:pPr marL="254000" indent="-127000" algn="l">
              <a:spcAft>
                <a:spcPts val="1000"/>
              </a:spcAft>
              <a:buChar char="•"/>
              <a:defRPr sz="172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t>生产环境、重要数据和高风险修改</a:t>
            </a:r>
          </a:p>
          <a:p xmlns:a="http://schemas.openxmlformats.org/drawingml/2006/main">
            <a:pPr marL="254000" indent="-127000" algn="l">
              <a:spcAft>
                <a:spcPts val="1000"/>
              </a:spcAft>
              <a:buChar char="•"/>
              <a:defRPr sz="172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t>测试覆盖不足或缺少 NPU 环境</a:t>
            </a:r>
          </a:p>
          <a:p xmlns:a="http://schemas.openxmlformats.org/drawingml/2006/main">
            <a:pPr marL="254000" indent="-127000" algn="l">
              <a:spcAft>
                <a:spcPts val="1000"/>
              </a:spcAft>
              <a:buChar char="•"/>
              <a:defRPr sz="1725" b="0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t>精度与性能的最终验收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7AA269-AB27-4D7D-8461-82A128A4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7FBFF"/>
                </a:solidFill>
                <a:latin typeface="Noto Sans SC"/>
                <a:ea typeface="Noto Sans SC"/>
                <a:cs typeface="Noto Sans SC"/>
              </a:rPr>
              <a:t>知识图谱 + Plugin + Agent + Skill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F6DF7-E8E6-41AB-877E-D15C11A7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BE6A2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5BE6A2"/>
                </a:solidFill>
                <a:latin typeface="Noto Sans SC"/>
                <a:ea typeface="Noto Sans SC"/>
                <a:cs typeface="Noto Sans SC"/>
              </a:rPr>
              <a:t>让个人经验成为团队可复用的工程资产</a:t>
            </a:r>
          </a:p>
        </p:txBody>
      </p:sp>
    </p:spTree>
    <p:extLst>
      <p:ext uri="{BB962C8B-B14F-4D97-AF65-F5344CB8AC3E}">
        <p14:creationId xmlns:p14="http://schemas.microsoft.com/office/powerpoint/2010/main" val="8039285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2026-09-21T07:18:25.3450000Z</dcterms:created>
  <dcterms:modified xsi:type="dcterms:W3CDTF">2026-09-21T07:18:25.3460000Z</dcterms:modified>
</coreProperties>
</file>